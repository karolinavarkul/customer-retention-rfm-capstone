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7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96E3BF-6CAF-4221-80E4-67FD4C311FB1}" v="100" dt="2026-04-07T06:41:00.4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166" autoAdjust="0"/>
  </p:normalViewPr>
  <p:slideViewPr>
    <p:cSldViewPr snapToGrid="0">
      <p:cViewPr varScale="1">
        <p:scale>
          <a:sx n="60" d="100"/>
          <a:sy n="60" d="100"/>
        </p:scale>
        <p:origin x="882" y="26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olina Varkuleviciute" userId="6ac88c7298706d5c" providerId="LiveId" clId="{C4F772CC-1F1C-43E6-8151-41AA317964C8}"/>
    <pc:docChg chg="undo custSel addSld delSld modSld modMainMaster">
      <pc:chgData name="Karolina Varkuleviciute" userId="6ac88c7298706d5c" providerId="LiveId" clId="{C4F772CC-1F1C-43E6-8151-41AA317964C8}" dt="2026-04-07T06:44:20.532" v="6631" actId="2696"/>
      <pc:docMkLst>
        <pc:docMk/>
      </pc:docMkLst>
      <pc:sldChg chg="addSp delSp modSp new mod setBg modNotesTx">
        <pc:chgData name="Karolina Varkuleviciute" userId="6ac88c7298706d5c" providerId="LiveId" clId="{C4F772CC-1F1C-43E6-8151-41AA317964C8}" dt="2026-03-27T08:56:08.365" v="214"/>
        <pc:sldMkLst>
          <pc:docMk/>
          <pc:sldMk cId="3147571376" sldId="256"/>
        </pc:sldMkLst>
        <pc:spChg chg="mod">
          <ac:chgData name="Karolina Varkuleviciute" userId="6ac88c7298706d5c" providerId="LiveId" clId="{C4F772CC-1F1C-43E6-8151-41AA317964C8}" dt="2026-03-27T08:50:20.516" v="105" actId="1076"/>
          <ac:spMkLst>
            <pc:docMk/>
            <pc:sldMk cId="3147571376" sldId="256"/>
            <ac:spMk id="2" creationId="{996C3884-D3DF-17BD-ABE7-E11B631E5900}"/>
          </ac:spMkLst>
        </pc:spChg>
        <pc:spChg chg="mod">
          <ac:chgData name="Karolina Varkuleviciute" userId="6ac88c7298706d5c" providerId="LiveId" clId="{C4F772CC-1F1C-43E6-8151-41AA317964C8}" dt="2026-03-27T08:51:12.272" v="162" actId="1076"/>
          <ac:spMkLst>
            <pc:docMk/>
            <pc:sldMk cId="3147571376" sldId="256"/>
            <ac:spMk id="3" creationId="{D04A1172-FFF9-EBB9-959C-B485B90E5DDC}"/>
          </ac:spMkLst>
        </pc:spChg>
        <pc:spChg chg="add mod">
          <ac:chgData name="Karolina Varkuleviciute" userId="6ac88c7298706d5c" providerId="LiveId" clId="{C4F772CC-1F1C-43E6-8151-41AA317964C8}" dt="2026-03-27T08:51:43.559" v="174" actId="1076"/>
          <ac:spMkLst>
            <pc:docMk/>
            <pc:sldMk cId="3147571376" sldId="256"/>
            <ac:spMk id="6" creationId="{760B7547-913D-56E6-EA4D-159683BE7AE8}"/>
          </ac:spMkLst>
        </pc:spChg>
        <pc:picChg chg="add mod modCrop">
          <ac:chgData name="Karolina Varkuleviciute" userId="6ac88c7298706d5c" providerId="LiveId" clId="{C4F772CC-1F1C-43E6-8151-41AA317964C8}" dt="2026-03-27T08:55:30.184" v="212" actId="1076"/>
          <ac:picMkLst>
            <pc:docMk/>
            <pc:sldMk cId="3147571376" sldId="256"/>
            <ac:picMk id="8" creationId="{8F0BA520-5C22-54F3-A0C9-F734FD54FF21}"/>
          </ac:picMkLst>
        </pc:picChg>
      </pc:sldChg>
      <pc:sldChg chg="addSp modSp new mod">
        <pc:chgData name="Karolina Varkuleviciute" userId="6ac88c7298706d5c" providerId="LiveId" clId="{C4F772CC-1F1C-43E6-8151-41AA317964C8}" dt="2026-03-27T09:44:24.967" v="1298" actId="1076"/>
        <pc:sldMkLst>
          <pc:docMk/>
          <pc:sldMk cId="4027291445" sldId="257"/>
        </pc:sldMkLst>
        <pc:spChg chg="mod">
          <ac:chgData name="Karolina Varkuleviciute" userId="6ac88c7298706d5c" providerId="LiveId" clId="{C4F772CC-1F1C-43E6-8151-41AA317964C8}" dt="2026-03-27T09:44:24.967" v="1298" actId="1076"/>
          <ac:spMkLst>
            <pc:docMk/>
            <pc:sldMk cId="4027291445" sldId="257"/>
            <ac:spMk id="2" creationId="{A58AAFB1-EE92-6AB1-E944-DCF352403F27}"/>
          </ac:spMkLst>
        </pc:spChg>
        <pc:spChg chg="mod">
          <ac:chgData name="Karolina Varkuleviciute" userId="6ac88c7298706d5c" providerId="LiveId" clId="{C4F772CC-1F1C-43E6-8151-41AA317964C8}" dt="2026-03-27T09:10:47.698" v="605" actId="20577"/>
          <ac:spMkLst>
            <pc:docMk/>
            <pc:sldMk cId="4027291445" sldId="257"/>
            <ac:spMk id="3" creationId="{33B1D85B-BBFA-583C-C1EE-DC301DACDF06}"/>
          </ac:spMkLst>
        </pc:spChg>
        <pc:picChg chg="add mod modCrop">
          <ac:chgData name="Karolina Varkuleviciute" userId="6ac88c7298706d5c" providerId="LiveId" clId="{C4F772CC-1F1C-43E6-8151-41AA317964C8}" dt="2026-03-27T09:00:29.827" v="353" actId="1076"/>
          <ac:picMkLst>
            <pc:docMk/>
            <pc:sldMk cId="4027291445" sldId="257"/>
            <ac:picMk id="4" creationId="{DE2A6F65-5312-D375-51CC-A4772BD0D138}"/>
          </ac:picMkLst>
        </pc:picChg>
        <pc:picChg chg="add mod modCrop">
          <ac:chgData name="Karolina Varkuleviciute" userId="6ac88c7298706d5c" providerId="LiveId" clId="{C4F772CC-1F1C-43E6-8151-41AA317964C8}" dt="2026-03-27T09:08:21.691" v="580" actId="1076"/>
          <ac:picMkLst>
            <pc:docMk/>
            <pc:sldMk cId="4027291445" sldId="257"/>
            <ac:picMk id="6" creationId="{C7C70C17-7E8E-AF9B-2FC8-963B1E7FB627}"/>
          </ac:picMkLst>
        </pc:picChg>
      </pc:sldChg>
      <pc:sldChg chg="addSp delSp modSp new mod modNotesTx">
        <pc:chgData name="Karolina Varkuleviciute" userId="6ac88c7298706d5c" providerId="LiveId" clId="{C4F772CC-1F1C-43E6-8151-41AA317964C8}" dt="2026-03-27T09:44:28.228" v="1299" actId="1076"/>
        <pc:sldMkLst>
          <pc:docMk/>
          <pc:sldMk cId="1718184846" sldId="258"/>
        </pc:sldMkLst>
        <pc:spChg chg="mod">
          <ac:chgData name="Karolina Varkuleviciute" userId="6ac88c7298706d5c" providerId="LiveId" clId="{C4F772CC-1F1C-43E6-8151-41AA317964C8}" dt="2026-03-27T09:44:28.228" v="1299" actId="1076"/>
          <ac:spMkLst>
            <pc:docMk/>
            <pc:sldMk cId="1718184846" sldId="258"/>
            <ac:spMk id="2" creationId="{624A001C-CFBA-64D5-F6A4-1DE826F818BD}"/>
          </ac:spMkLst>
        </pc:spChg>
        <pc:spChg chg="add mod">
          <ac:chgData name="Karolina Varkuleviciute" userId="6ac88c7298706d5c" providerId="LiveId" clId="{C4F772CC-1F1C-43E6-8151-41AA317964C8}" dt="2026-03-27T09:23:43.284" v="823" actId="1076"/>
          <ac:spMkLst>
            <pc:docMk/>
            <pc:sldMk cId="1718184846" sldId="258"/>
            <ac:spMk id="11" creationId="{1EACF0AC-0EDC-B1C4-BDCE-D054DE34E188}"/>
          </ac:spMkLst>
        </pc:spChg>
        <pc:spChg chg="add mod">
          <ac:chgData name="Karolina Varkuleviciute" userId="6ac88c7298706d5c" providerId="LiveId" clId="{C4F772CC-1F1C-43E6-8151-41AA317964C8}" dt="2026-03-27T09:23:43.284" v="823" actId="1076"/>
          <ac:spMkLst>
            <pc:docMk/>
            <pc:sldMk cId="1718184846" sldId="258"/>
            <ac:spMk id="12" creationId="{37859381-F867-8F56-CF60-A2CE6E7EBCF8}"/>
          </ac:spMkLst>
        </pc:spChg>
        <pc:spChg chg="add mod">
          <ac:chgData name="Karolina Varkuleviciute" userId="6ac88c7298706d5c" providerId="LiveId" clId="{C4F772CC-1F1C-43E6-8151-41AA317964C8}" dt="2026-03-27T09:24:23.694" v="834" actId="1076"/>
          <ac:spMkLst>
            <pc:docMk/>
            <pc:sldMk cId="1718184846" sldId="258"/>
            <ac:spMk id="13" creationId="{107C9FAF-0F4A-29E6-C20A-1B7BB7512F46}"/>
          </ac:spMkLst>
        </pc:spChg>
        <pc:picChg chg="add mod">
          <ac:chgData name="Karolina Varkuleviciute" userId="6ac88c7298706d5c" providerId="LiveId" clId="{C4F772CC-1F1C-43E6-8151-41AA317964C8}" dt="2026-03-27T09:10:55.291" v="606"/>
          <ac:picMkLst>
            <pc:docMk/>
            <pc:sldMk cId="1718184846" sldId="258"/>
            <ac:picMk id="4" creationId="{4677FAFA-5A3C-BA83-3280-C07C7A34E5DA}"/>
          </ac:picMkLst>
        </pc:picChg>
        <pc:picChg chg="add mod modCrop">
          <ac:chgData name="Karolina Varkuleviciute" userId="6ac88c7298706d5c" providerId="LiveId" clId="{C4F772CC-1F1C-43E6-8151-41AA317964C8}" dt="2026-03-27T09:23:43.284" v="823" actId="1076"/>
          <ac:picMkLst>
            <pc:docMk/>
            <pc:sldMk cId="1718184846" sldId="258"/>
            <ac:picMk id="6" creationId="{43CB938A-E6E3-A6BF-6BCC-97D2DEC97AB0}"/>
          </ac:picMkLst>
        </pc:picChg>
        <pc:picChg chg="add mod modCrop">
          <ac:chgData name="Karolina Varkuleviciute" userId="6ac88c7298706d5c" providerId="LiveId" clId="{C4F772CC-1F1C-43E6-8151-41AA317964C8}" dt="2026-03-27T09:23:43.284" v="823" actId="1076"/>
          <ac:picMkLst>
            <pc:docMk/>
            <pc:sldMk cId="1718184846" sldId="258"/>
            <ac:picMk id="7" creationId="{AA6C6DEC-B699-3F8F-9508-88A466F96693}"/>
          </ac:picMkLst>
        </pc:picChg>
        <pc:picChg chg="add mod modCrop">
          <ac:chgData name="Karolina Varkuleviciute" userId="6ac88c7298706d5c" providerId="LiveId" clId="{C4F772CC-1F1C-43E6-8151-41AA317964C8}" dt="2026-03-27T09:23:43.284" v="823" actId="1076"/>
          <ac:picMkLst>
            <pc:docMk/>
            <pc:sldMk cId="1718184846" sldId="258"/>
            <ac:picMk id="8" creationId="{A23810F6-9657-21A5-E13C-BC1C557418F6}"/>
          </ac:picMkLst>
        </pc:picChg>
      </pc:sldChg>
      <pc:sldChg chg="addSp delSp modSp new mod modNotesTx">
        <pc:chgData name="Karolina Varkuleviciute" userId="6ac88c7298706d5c" providerId="LiveId" clId="{C4F772CC-1F1C-43E6-8151-41AA317964C8}" dt="2026-03-27T10:04:37.064" v="1805" actId="1076"/>
        <pc:sldMkLst>
          <pc:docMk/>
          <pc:sldMk cId="3381865299" sldId="259"/>
        </pc:sldMkLst>
        <pc:spChg chg="mod">
          <ac:chgData name="Karolina Varkuleviciute" userId="6ac88c7298706d5c" providerId="LiveId" clId="{C4F772CC-1F1C-43E6-8151-41AA317964C8}" dt="2026-03-27T09:44:32.233" v="1300" actId="1076"/>
          <ac:spMkLst>
            <pc:docMk/>
            <pc:sldMk cId="3381865299" sldId="259"/>
            <ac:spMk id="2" creationId="{739D241D-0F26-174D-B965-0CAEB29A468D}"/>
          </ac:spMkLst>
        </pc:spChg>
        <pc:spChg chg="add mod">
          <ac:chgData name="Karolina Varkuleviciute" userId="6ac88c7298706d5c" providerId="LiveId" clId="{C4F772CC-1F1C-43E6-8151-41AA317964C8}" dt="2026-03-27T09:43:27.389" v="1264" actId="14100"/>
          <ac:spMkLst>
            <pc:docMk/>
            <pc:sldMk cId="3381865299" sldId="259"/>
            <ac:spMk id="13" creationId="{A273B64E-7CFD-7C4B-1DAD-5D01699ED98D}"/>
          </ac:spMkLst>
        </pc:spChg>
        <pc:spChg chg="add mod">
          <ac:chgData name="Karolina Varkuleviciute" userId="6ac88c7298706d5c" providerId="LiveId" clId="{C4F772CC-1F1C-43E6-8151-41AA317964C8}" dt="2026-03-27T09:43:58.878" v="1296" actId="1035"/>
          <ac:spMkLst>
            <pc:docMk/>
            <pc:sldMk cId="3381865299" sldId="259"/>
            <ac:spMk id="14" creationId="{75AC5DFA-3867-6982-663D-46A2C4C1C183}"/>
          </ac:spMkLst>
        </pc:spChg>
        <pc:spChg chg="add mod">
          <ac:chgData name="Karolina Varkuleviciute" userId="6ac88c7298706d5c" providerId="LiveId" clId="{C4F772CC-1F1C-43E6-8151-41AA317964C8}" dt="2026-03-27T10:04:37.064" v="1805" actId="1076"/>
          <ac:spMkLst>
            <pc:docMk/>
            <pc:sldMk cId="3381865299" sldId="259"/>
            <ac:spMk id="18" creationId="{5E3535EE-8EB5-FB20-1C73-5E9D8D62DC30}"/>
          </ac:spMkLst>
        </pc:spChg>
        <pc:spChg chg="add mod">
          <ac:chgData name="Karolina Varkuleviciute" userId="6ac88c7298706d5c" providerId="LiveId" clId="{C4F772CC-1F1C-43E6-8151-41AA317964C8}" dt="2026-03-27T10:04:17.927" v="1795" actId="14100"/>
          <ac:spMkLst>
            <pc:docMk/>
            <pc:sldMk cId="3381865299" sldId="259"/>
            <ac:spMk id="19" creationId="{C06ACEC4-BD3B-E6C9-D1CF-E9CA8F63AE8C}"/>
          </ac:spMkLst>
        </pc:spChg>
        <pc:picChg chg="add mod">
          <ac:chgData name="Karolina Varkuleviciute" userId="6ac88c7298706d5c" providerId="LiveId" clId="{C4F772CC-1F1C-43E6-8151-41AA317964C8}" dt="2026-03-27T09:43:58.878" v="1296" actId="1035"/>
          <ac:picMkLst>
            <pc:docMk/>
            <pc:sldMk cId="3381865299" sldId="259"/>
            <ac:picMk id="6" creationId="{DF61A03A-10C0-416F-218A-023E1F45392B}"/>
          </ac:picMkLst>
        </pc:picChg>
        <pc:picChg chg="add mod">
          <ac:chgData name="Karolina Varkuleviciute" userId="6ac88c7298706d5c" providerId="LiveId" clId="{C4F772CC-1F1C-43E6-8151-41AA317964C8}" dt="2026-03-27T09:44:02.056" v="1297"/>
          <ac:picMkLst>
            <pc:docMk/>
            <pc:sldMk cId="3381865299" sldId="259"/>
            <ac:picMk id="15" creationId="{6509CDC7-7CA3-4932-884B-81874E408899}"/>
          </ac:picMkLst>
        </pc:picChg>
        <pc:picChg chg="add mod">
          <ac:chgData name="Karolina Varkuleviciute" userId="6ac88c7298706d5c" providerId="LiveId" clId="{C4F772CC-1F1C-43E6-8151-41AA317964C8}" dt="2026-03-27T10:03:32.614" v="1781" actId="1076"/>
          <ac:picMkLst>
            <pc:docMk/>
            <pc:sldMk cId="3381865299" sldId="259"/>
            <ac:picMk id="17" creationId="{E6105C6B-083D-E50D-7328-D443F1DB399C}"/>
          </ac:picMkLst>
        </pc:picChg>
      </pc:sldChg>
      <pc:sldChg chg="addSp delSp modSp new mod modNotesTx">
        <pc:chgData name="Karolina Varkuleviciute" userId="6ac88c7298706d5c" providerId="LiveId" clId="{C4F772CC-1F1C-43E6-8151-41AA317964C8}" dt="2026-03-27T10:02:14.282" v="1774" actId="20577"/>
        <pc:sldMkLst>
          <pc:docMk/>
          <pc:sldMk cId="256312473" sldId="260"/>
        </pc:sldMkLst>
        <pc:spChg chg="mod">
          <ac:chgData name="Karolina Varkuleviciute" userId="6ac88c7298706d5c" providerId="LiveId" clId="{C4F772CC-1F1C-43E6-8151-41AA317964C8}" dt="2026-03-27T09:48:25.475" v="1370" actId="1076"/>
          <ac:spMkLst>
            <pc:docMk/>
            <pc:sldMk cId="256312473" sldId="260"/>
            <ac:spMk id="2" creationId="{3018656A-0010-673D-3223-BC11D70AA7F5}"/>
          </ac:spMkLst>
        </pc:spChg>
        <pc:spChg chg="mod">
          <ac:chgData name="Karolina Varkuleviciute" userId="6ac88c7298706d5c" providerId="LiveId" clId="{C4F772CC-1F1C-43E6-8151-41AA317964C8}" dt="2026-03-27T09:57:00.528" v="1717" actId="27636"/>
          <ac:spMkLst>
            <pc:docMk/>
            <pc:sldMk cId="256312473" sldId="260"/>
            <ac:spMk id="3" creationId="{B20633DF-2595-59C9-7CA7-28935DD93CF0}"/>
          </ac:spMkLst>
        </pc:spChg>
        <pc:spChg chg="add mod">
          <ac:chgData name="Karolina Varkuleviciute" userId="6ac88c7298706d5c" providerId="LiveId" clId="{C4F772CC-1F1C-43E6-8151-41AA317964C8}" dt="2026-03-27T10:01:44.678" v="1755" actId="20577"/>
          <ac:spMkLst>
            <pc:docMk/>
            <pc:sldMk cId="256312473" sldId="260"/>
            <ac:spMk id="12" creationId="{6E4454D5-37F1-8639-6DCE-90359ED698C3}"/>
          </ac:spMkLst>
        </pc:spChg>
        <pc:spChg chg="add mod">
          <ac:chgData name="Karolina Varkuleviciute" userId="6ac88c7298706d5c" providerId="LiveId" clId="{C4F772CC-1F1C-43E6-8151-41AA317964C8}" dt="2026-03-27T10:01:55.478" v="1763" actId="20577"/>
          <ac:spMkLst>
            <pc:docMk/>
            <pc:sldMk cId="256312473" sldId="260"/>
            <ac:spMk id="13" creationId="{DDB52990-2DE6-BFE6-3594-E7D5A253EE00}"/>
          </ac:spMkLst>
        </pc:spChg>
        <pc:spChg chg="add mod">
          <ac:chgData name="Karolina Varkuleviciute" userId="6ac88c7298706d5c" providerId="LiveId" clId="{C4F772CC-1F1C-43E6-8151-41AA317964C8}" dt="2026-03-27T10:02:14.282" v="1774" actId="20577"/>
          <ac:spMkLst>
            <pc:docMk/>
            <pc:sldMk cId="256312473" sldId="260"/>
            <ac:spMk id="14" creationId="{114D8162-E1A9-5CDA-CCDA-915082BDF941}"/>
          </ac:spMkLst>
        </pc:spChg>
        <pc:spChg chg="add mod">
          <ac:chgData name="Karolina Varkuleviciute" userId="6ac88c7298706d5c" providerId="LiveId" clId="{C4F772CC-1F1C-43E6-8151-41AA317964C8}" dt="2026-03-27T10:02:04.172" v="1769" actId="20577"/>
          <ac:spMkLst>
            <pc:docMk/>
            <pc:sldMk cId="256312473" sldId="260"/>
            <ac:spMk id="15" creationId="{894F3085-44F4-5F1A-1C93-9157F142F0D1}"/>
          </ac:spMkLst>
        </pc:spChg>
        <pc:picChg chg="add mod">
          <ac:chgData name="Karolina Varkuleviciute" userId="6ac88c7298706d5c" providerId="LiveId" clId="{C4F772CC-1F1C-43E6-8151-41AA317964C8}" dt="2026-03-27T09:46:12.136" v="1307"/>
          <ac:picMkLst>
            <pc:docMk/>
            <pc:sldMk cId="256312473" sldId="260"/>
            <ac:picMk id="4" creationId="{1B48A87F-6EC9-FAB7-A207-092940D36127}"/>
          </ac:picMkLst>
        </pc:picChg>
        <pc:picChg chg="add mod">
          <ac:chgData name="Karolina Varkuleviciute" userId="6ac88c7298706d5c" providerId="LiveId" clId="{C4F772CC-1F1C-43E6-8151-41AA317964C8}" dt="2026-03-27T10:00:25.917" v="1740" actId="1076"/>
          <ac:picMkLst>
            <pc:docMk/>
            <pc:sldMk cId="256312473" sldId="260"/>
            <ac:picMk id="11" creationId="{D23D6F84-B73B-781C-BE94-8376293085BB}"/>
          </ac:picMkLst>
        </pc:picChg>
      </pc:sldChg>
      <pc:sldChg chg="addSp delSp modSp new mod modNotesTx">
        <pc:chgData name="Karolina Varkuleviciute" userId="6ac88c7298706d5c" providerId="LiveId" clId="{C4F772CC-1F1C-43E6-8151-41AA317964C8}" dt="2026-03-27T10:19:28.569" v="2224" actId="1076"/>
        <pc:sldMkLst>
          <pc:docMk/>
          <pc:sldMk cId="741332569" sldId="261"/>
        </pc:sldMkLst>
        <pc:spChg chg="mod">
          <ac:chgData name="Karolina Varkuleviciute" userId="6ac88c7298706d5c" providerId="LiveId" clId="{C4F772CC-1F1C-43E6-8151-41AA317964C8}" dt="2026-03-27T10:19:28.569" v="2224" actId="1076"/>
          <ac:spMkLst>
            <pc:docMk/>
            <pc:sldMk cId="741332569" sldId="261"/>
            <ac:spMk id="2" creationId="{D977E7D9-927F-4EDA-DC73-42CA692D81B0}"/>
          </ac:spMkLst>
        </pc:spChg>
        <pc:spChg chg="mod">
          <ac:chgData name="Karolina Varkuleviciute" userId="6ac88c7298706d5c" providerId="LiveId" clId="{C4F772CC-1F1C-43E6-8151-41AA317964C8}" dt="2026-03-27T10:12:15.325" v="2185" actId="20577"/>
          <ac:spMkLst>
            <pc:docMk/>
            <pc:sldMk cId="741332569" sldId="261"/>
            <ac:spMk id="3" creationId="{8ED72F6E-9C27-D65D-ECF2-BA8616DC8715}"/>
          </ac:spMkLst>
        </pc:spChg>
        <pc:spChg chg="add mod">
          <ac:chgData name="Karolina Varkuleviciute" userId="6ac88c7298706d5c" providerId="LiveId" clId="{C4F772CC-1F1C-43E6-8151-41AA317964C8}" dt="2026-03-27T10:14:11.031" v="2195" actId="1076"/>
          <ac:spMkLst>
            <pc:docMk/>
            <pc:sldMk cId="741332569" sldId="261"/>
            <ac:spMk id="7" creationId="{F487F610-7CB9-491A-AC4E-A7E2E50443F8}"/>
          </ac:spMkLst>
        </pc:spChg>
        <pc:spChg chg="add mod">
          <ac:chgData name="Karolina Varkuleviciute" userId="6ac88c7298706d5c" providerId="LiveId" clId="{C4F772CC-1F1C-43E6-8151-41AA317964C8}" dt="2026-03-27T10:14:18.181" v="2197" actId="1076"/>
          <ac:spMkLst>
            <pc:docMk/>
            <pc:sldMk cId="741332569" sldId="261"/>
            <ac:spMk id="8" creationId="{03F0AFF7-E62D-2CA4-454F-5C27671E33E2}"/>
          </ac:spMkLst>
        </pc:spChg>
        <pc:spChg chg="add mod">
          <ac:chgData name="Karolina Varkuleviciute" userId="6ac88c7298706d5c" providerId="LiveId" clId="{C4F772CC-1F1C-43E6-8151-41AA317964C8}" dt="2026-03-27T10:14:14.207" v="2196" actId="1076"/>
          <ac:spMkLst>
            <pc:docMk/>
            <pc:sldMk cId="741332569" sldId="261"/>
            <ac:spMk id="9" creationId="{64C77241-A2F4-4BE1-D32B-AA8D0E7D0E06}"/>
          </ac:spMkLst>
        </pc:spChg>
        <pc:picChg chg="add mod">
          <ac:chgData name="Karolina Varkuleviciute" userId="6ac88c7298706d5c" providerId="LiveId" clId="{C4F772CC-1F1C-43E6-8151-41AA317964C8}" dt="2026-03-27T10:06:35.526" v="1848"/>
          <ac:picMkLst>
            <pc:docMk/>
            <pc:sldMk cId="741332569" sldId="261"/>
            <ac:picMk id="6" creationId="{C9D3C5CB-4CAC-D368-06DB-17F90DDC3A71}"/>
          </ac:picMkLst>
        </pc:picChg>
        <pc:picChg chg="add mod ord">
          <ac:chgData name="Karolina Varkuleviciute" userId="6ac88c7298706d5c" providerId="LiveId" clId="{C4F772CC-1F1C-43E6-8151-41AA317964C8}" dt="2026-03-27T10:14:05.938" v="2194" actId="171"/>
          <ac:picMkLst>
            <pc:docMk/>
            <pc:sldMk cId="741332569" sldId="261"/>
            <ac:picMk id="11" creationId="{4C91C9A4-FEDD-8975-31BA-2C64870A5987}"/>
          </ac:picMkLst>
        </pc:picChg>
      </pc:sldChg>
      <pc:sldChg chg="addSp modSp new mod modNotesTx">
        <pc:chgData name="Karolina Varkuleviciute" userId="6ac88c7298706d5c" providerId="LiveId" clId="{C4F772CC-1F1C-43E6-8151-41AA317964C8}" dt="2026-03-27T10:29:46.236" v="2851" actId="113"/>
        <pc:sldMkLst>
          <pc:docMk/>
          <pc:sldMk cId="2069206149" sldId="262"/>
        </pc:sldMkLst>
        <pc:spChg chg="mod">
          <ac:chgData name="Karolina Varkuleviciute" userId="6ac88c7298706d5c" providerId="LiveId" clId="{C4F772CC-1F1C-43E6-8151-41AA317964C8}" dt="2026-03-27T10:19:51.298" v="2264" actId="1076"/>
          <ac:spMkLst>
            <pc:docMk/>
            <pc:sldMk cId="2069206149" sldId="262"/>
            <ac:spMk id="2" creationId="{6ECAC3A2-772A-0239-74AF-1CEB069A227D}"/>
          </ac:spMkLst>
        </pc:spChg>
        <pc:spChg chg="mod">
          <ac:chgData name="Karolina Varkuleviciute" userId="6ac88c7298706d5c" providerId="LiveId" clId="{C4F772CC-1F1C-43E6-8151-41AA317964C8}" dt="2026-03-27T10:27:12.470" v="2829" actId="20577"/>
          <ac:spMkLst>
            <pc:docMk/>
            <pc:sldMk cId="2069206149" sldId="262"/>
            <ac:spMk id="3" creationId="{2EE86A0D-5DD6-BB1F-A275-F1CB54CC5E98}"/>
          </ac:spMkLst>
        </pc:spChg>
        <pc:picChg chg="add mod">
          <ac:chgData name="Karolina Varkuleviciute" userId="6ac88c7298706d5c" providerId="LiveId" clId="{C4F772CC-1F1C-43E6-8151-41AA317964C8}" dt="2026-03-27T10:15:16.612" v="2214"/>
          <ac:picMkLst>
            <pc:docMk/>
            <pc:sldMk cId="2069206149" sldId="262"/>
            <ac:picMk id="4" creationId="{EF63F4C9-B5BC-B645-B5F1-5F5A9D97078B}"/>
          </ac:picMkLst>
        </pc:picChg>
        <pc:picChg chg="add mod">
          <ac:chgData name="Karolina Varkuleviciute" userId="6ac88c7298706d5c" providerId="LiveId" clId="{C4F772CC-1F1C-43E6-8151-41AA317964C8}" dt="2026-03-27T10:20:03.028" v="2269" actId="1076"/>
          <ac:picMkLst>
            <pc:docMk/>
            <pc:sldMk cId="2069206149" sldId="262"/>
            <ac:picMk id="6" creationId="{608FAC17-7DAB-BC26-FAC8-AD5E1BD0E661}"/>
          </ac:picMkLst>
        </pc:picChg>
      </pc:sldChg>
      <pc:sldChg chg="addSp delSp modSp new mod modNotesTx">
        <pc:chgData name="Karolina Varkuleviciute" userId="6ac88c7298706d5c" providerId="LiveId" clId="{C4F772CC-1F1C-43E6-8151-41AA317964C8}" dt="2026-03-27T10:43:24.001" v="3448" actId="113"/>
        <pc:sldMkLst>
          <pc:docMk/>
          <pc:sldMk cId="1069433709" sldId="263"/>
        </pc:sldMkLst>
        <pc:spChg chg="mod">
          <ac:chgData name="Karolina Varkuleviciute" userId="6ac88c7298706d5c" providerId="LiveId" clId="{C4F772CC-1F1C-43E6-8151-41AA317964C8}" dt="2026-03-27T10:42:26.705" v="3430" actId="1076"/>
          <ac:spMkLst>
            <pc:docMk/>
            <pc:sldMk cId="1069433709" sldId="263"/>
            <ac:spMk id="2" creationId="{D67BDC08-256F-6B1C-1503-1FF1FA8810E8}"/>
          </ac:spMkLst>
        </pc:spChg>
        <pc:spChg chg="mod">
          <ac:chgData name="Karolina Varkuleviciute" userId="6ac88c7298706d5c" providerId="LiveId" clId="{C4F772CC-1F1C-43E6-8151-41AA317964C8}" dt="2026-03-27T10:41:51.253" v="3378" actId="1076"/>
          <ac:spMkLst>
            <pc:docMk/>
            <pc:sldMk cId="1069433709" sldId="263"/>
            <ac:spMk id="3" creationId="{CB9341D9-5A01-DEAC-E9E7-B794E977FE68}"/>
          </ac:spMkLst>
        </pc:spChg>
        <pc:picChg chg="add mod">
          <ac:chgData name="Karolina Varkuleviciute" userId="6ac88c7298706d5c" providerId="LiveId" clId="{C4F772CC-1F1C-43E6-8151-41AA317964C8}" dt="2026-03-27T10:29:49.039" v="2852"/>
          <ac:picMkLst>
            <pc:docMk/>
            <pc:sldMk cId="1069433709" sldId="263"/>
            <ac:picMk id="4" creationId="{47274195-F347-6117-6DE6-92C9ACB46B2E}"/>
          </ac:picMkLst>
        </pc:picChg>
        <pc:picChg chg="add mod">
          <ac:chgData name="Karolina Varkuleviciute" userId="6ac88c7298706d5c" providerId="LiveId" clId="{C4F772CC-1F1C-43E6-8151-41AA317964C8}" dt="2026-03-27T10:34:34.683" v="2903" actId="1076"/>
          <ac:picMkLst>
            <pc:docMk/>
            <pc:sldMk cId="1069433709" sldId="263"/>
            <ac:picMk id="8" creationId="{9684E2CE-B0D0-45E7-30E3-A283A03645EC}"/>
          </ac:picMkLst>
        </pc:picChg>
        <pc:picChg chg="add mod modCrop">
          <ac:chgData name="Karolina Varkuleviciute" userId="6ac88c7298706d5c" providerId="LiveId" clId="{C4F772CC-1F1C-43E6-8151-41AA317964C8}" dt="2026-03-27T10:36:20.618" v="2933" actId="1076"/>
          <ac:picMkLst>
            <pc:docMk/>
            <pc:sldMk cId="1069433709" sldId="263"/>
            <ac:picMk id="10" creationId="{AF7C543F-685E-188D-F4B8-B7C2C4F1D4BF}"/>
          </ac:picMkLst>
        </pc:picChg>
        <pc:picChg chg="add mod modCrop">
          <ac:chgData name="Karolina Varkuleviciute" userId="6ac88c7298706d5c" providerId="LiveId" clId="{C4F772CC-1F1C-43E6-8151-41AA317964C8}" dt="2026-03-27T10:36:36.746" v="2937" actId="1076"/>
          <ac:picMkLst>
            <pc:docMk/>
            <pc:sldMk cId="1069433709" sldId="263"/>
            <ac:picMk id="13" creationId="{BF8CCEBF-5082-32CD-3D05-12FC742C046E}"/>
          </ac:picMkLst>
        </pc:picChg>
      </pc:sldChg>
      <pc:sldChg chg="addSp delSp modSp new mod modNotesTx">
        <pc:chgData name="Karolina Varkuleviciute" userId="6ac88c7298706d5c" providerId="LiveId" clId="{C4F772CC-1F1C-43E6-8151-41AA317964C8}" dt="2026-03-27T11:00:19.532" v="3872" actId="1076"/>
        <pc:sldMkLst>
          <pc:docMk/>
          <pc:sldMk cId="2906581949" sldId="264"/>
        </pc:sldMkLst>
        <pc:spChg chg="mod">
          <ac:chgData name="Karolina Varkuleviciute" userId="6ac88c7298706d5c" providerId="LiveId" clId="{C4F772CC-1F1C-43E6-8151-41AA317964C8}" dt="2026-03-27T11:00:15.577" v="3871" actId="1076"/>
          <ac:spMkLst>
            <pc:docMk/>
            <pc:sldMk cId="2906581949" sldId="264"/>
            <ac:spMk id="2" creationId="{ADE4C042-1536-CB58-A0A5-3F19199007BB}"/>
          </ac:spMkLst>
        </pc:spChg>
        <pc:spChg chg="add mod">
          <ac:chgData name="Karolina Varkuleviciute" userId="6ac88c7298706d5c" providerId="LiveId" clId="{C4F772CC-1F1C-43E6-8151-41AA317964C8}" dt="2026-03-27T11:00:19.532" v="3872" actId="1076"/>
          <ac:spMkLst>
            <pc:docMk/>
            <pc:sldMk cId="2906581949" sldId="264"/>
            <ac:spMk id="4" creationId="{9714A4C1-8077-4F53-55D6-4300873B7554}"/>
          </ac:spMkLst>
        </pc:spChg>
        <pc:picChg chg="add mod modCrop">
          <ac:chgData name="Karolina Varkuleviciute" userId="6ac88c7298706d5c" providerId="LiveId" clId="{C4F772CC-1F1C-43E6-8151-41AA317964C8}" dt="2026-03-27T10:54:23.210" v="3798" actId="1076"/>
          <ac:picMkLst>
            <pc:docMk/>
            <pc:sldMk cId="2906581949" sldId="264"/>
            <ac:picMk id="8" creationId="{EDBEF2E5-FD8A-0F46-5A5C-7DEB9FF4F792}"/>
          </ac:picMkLst>
        </pc:picChg>
        <pc:picChg chg="add mod">
          <ac:chgData name="Karolina Varkuleviciute" userId="6ac88c7298706d5c" providerId="LiveId" clId="{C4F772CC-1F1C-43E6-8151-41AA317964C8}" dt="2026-03-27T10:58:49.327" v="3830"/>
          <ac:picMkLst>
            <pc:docMk/>
            <pc:sldMk cId="2906581949" sldId="264"/>
            <ac:picMk id="9" creationId="{27887DC8-93EA-EABB-9EBE-BAE7CEC8D8F2}"/>
          </ac:picMkLst>
        </pc:picChg>
      </pc:sldChg>
      <pc:sldChg chg="addSp delSp modSp new mod modNotesTx">
        <pc:chgData name="Karolina Varkuleviciute" userId="6ac88c7298706d5c" providerId="LiveId" clId="{C4F772CC-1F1C-43E6-8151-41AA317964C8}" dt="2026-03-27T11:27:32.308" v="5223" actId="1076"/>
        <pc:sldMkLst>
          <pc:docMk/>
          <pc:sldMk cId="1390321068" sldId="265"/>
        </pc:sldMkLst>
        <pc:spChg chg="mod">
          <ac:chgData name="Karolina Varkuleviciute" userId="6ac88c7298706d5c" providerId="LiveId" clId="{C4F772CC-1F1C-43E6-8151-41AA317964C8}" dt="2026-03-27T11:27:32.308" v="5223" actId="1076"/>
          <ac:spMkLst>
            <pc:docMk/>
            <pc:sldMk cId="1390321068" sldId="265"/>
            <ac:spMk id="2" creationId="{331C6F36-5C40-30A7-452B-6E67F7069873}"/>
          </ac:spMkLst>
        </pc:spChg>
        <pc:spChg chg="mod">
          <ac:chgData name="Karolina Varkuleviciute" userId="6ac88c7298706d5c" providerId="LiveId" clId="{C4F772CC-1F1C-43E6-8151-41AA317964C8}" dt="2026-03-27T11:25:14.355" v="5155" actId="20577"/>
          <ac:spMkLst>
            <pc:docMk/>
            <pc:sldMk cId="1390321068" sldId="265"/>
            <ac:spMk id="3" creationId="{E008FEB7-CACF-5EF3-D0B8-61B12CC293B4}"/>
          </ac:spMkLst>
        </pc:spChg>
        <pc:spChg chg="add mod">
          <ac:chgData name="Karolina Varkuleviciute" userId="6ac88c7298706d5c" providerId="LiveId" clId="{C4F772CC-1F1C-43E6-8151-41AA317964C8}" dt="2026-03-27T11:25:33.515" v="5173" actId="20577"/>
          <ac:spMkLst>
            <pc:docMk/>
            <pc:sldMk cId="1390321068" sldId="265"/>
            <ac:spMk id="5" creationId="{1E4B65CE-9226-B60C-D22A-5FE4824B3824}"/>
          </ac:spMkLst>
        </pc:spChg>
        <pc:spChg chg="add mod">
          <ac:chgData name="Karolina Varkuleviciute" userId="6ac88c7298706d5c" providerId="LiveId" clId="{C4F772CC-1F1C-43E6-8151-41AA317964C8}" dt="2026-03-27T11:25:40.819" v="5188" actId="20577"/>
          <ac:spMkLst>
            <pc:docMk/>
            <pc:sldMk cId="1390321068" sldId="265"/>
            <ac:spMk id="6" creationId="{F8F85D98-D4F9-4331-B828-55E5B5F50AA4}"/>
          </ac:spMkLst>
        </pc:spChg>
        <pc:spChg chg="add mod">
          <ac:chgData name="Karolina Varkuleviciute" userId="6ac88c7298706d5c" providerId="LiveId" clId="{C4F772CC-1F1C-43E6-8151-41AA317964C8}" dt="2026-03-27T11:18:44.936" v="5057" actId="20577"/>
          <ac:spMkLst>
            <pc:docMk/>
            <pc:sldMk cId="1390321068" sldId="265"/>
            <ac:spMk id="7" creationId="{47E05DB7-10D9-6A46-01C4-186949E052B3}"/>
          </ac:spMkLst>
        </pc:spChg>
        <pc:picChg chg="add mod">
          <ac:chgData name="Karolina Varkuleviciute" userId="6ac88c7298706d5c" providerId="LiveId" clId="{C4F772CC-1F1C-43E6-8151-41AA317964C8}" dt="2026-03-27T10:59:38.179" v="3832"/>
          <ac:picMkLst>
            <pc:docMk/>
            <pc:sldMk cId="1390321068" sldId="265"/>
            <ac:picMk id="4" creationId="{75644888-9DA2-2AE3-8573-31507836D2DA}"/>
          </ac:picMkLst>
        </pc:picChg>
        <pc:picChg chg="add mod modCrop">
          <ac:chgData name="Karolina Varkuleviciute" userId="6ac88c7298706d5c" providerId="LiveId" clId="{C4F772CC-1F1C-43E6-8151-41AA317964C8}" dt="2026-03-27T11:25:16.945" v="5156" actId="1076"/>
          <ac:picMkLst>
            <pc:docMk/>
            <pc:sldMk cId="1390321068" sldId="265"/>
            <ac:picMk id="13" creationId="{95C4D345-1C32-E571-14F3-E8610D0887B2}"/>
          </ac:picMkLst>
        </pc:picChg>
        <pc:picChg chg="add mod modCrop">
          <ac:chgData name="Karolina Varkuleviciute" userId="6ac88c7298706d5c" providerId="LiveId" clId="{C4F772CC-1F1C-43E6-8151-41AA317964C8}" dt="2026-03-27T11:25:36.930" v="5174" actId="1076"/>
          <ac:picMkLst>
            <pc:docMk/>
            <pc:sldMk cId="1390321068" sldId="265"/>
            <ac:picMk id="14" creationId="{B6894321-77C4-F256-43F9-B43ED9CA05F7}"/>
          </ac:picMkLst>
        </pc:picChg>
        <pc:picChg chg="add mod modCrop">
          <ac:chgData name="Karolina Varkuleviciute" userId="6ac88c7298706d5c" providerId="LiveId" clId="{C4F772CC-1F1C-43E6-8151-41AA317964C8}" dt="2026-03-27T11:25:55.508" v="5191" actId="1076"/>
          <ac:picMkLst>
            <pc:docMk/>
            <pc:sldMk cId="1390321068" sldId="265"/>
            <ac:picMk id="15" creationId="{17687760-0760-C786-9531-5132381F8455}"/>
          </ac:picMkLst>
        </pc:picChg>
      </pc:sldChg>
      <pc:sldChg chg="addSp delSp modSp new mod modNotesTx">
        <pc:chgData name="Karolina Varkuleviciute" userId="6ac88c7298706d5c" providerId="LiveId" clId="{C4F772CC-1F1C-43E6-8151-41AA317964C8}" dt="2026-03-27T11:52:58.117" v="6605" actId="5793"/>
        <pc:sldMkLst>
          <pc:docMk/>
          <pc:sldMk cId="4219388556" sldId="266"/>
        </pc:sldMkLst>
        <pc:spChg chg="mod">
          <ac:chgData name="Karolina Varkuleviciute" userId="6ac88c7298706d5c" providerId="LiveId" clId="{C4F772CC-1F1C-43E6-8151-41AA317964C8}" dt="2026-03-27T11:27:29.578" v="5222" actId="1076"/>
          <ac:spMkLst>
            <pc:docMk/>
            <pc:sldMk cId="4219388556" sldId="266"/>
            <ac:spMk id="2" creationId="{8EE43882-923C-4168-751B-1439B63C7FD4}"/>
          </ac:spMkLst>
        </pc:spChg>
        <pc:spChg chg="add mod">
          <ac:chgData name="Karolina Varkuleviciute" userId="6ac88c7298706d5c" providerId="LiveId" clId="{C4F772CC-1F1C-43E6-8151-41AA317964C8}" dt="2026-03-27T11:31:18.316" v="5609" actId="1076"/>
          <ac:spMkLst>
            <pc:docMk/>
            <pc:sldMk cId="4219388556" sldId="266"/>
            <ac:spMk id="5" creationId="{26F831BB-608E-9C72-FF87-262D125B3051}"/>
          </ac:spMkLst>
        </pc:spChg>
        <pc:spChg chg="add mod">
          <ac:chgData name="Karolina Varkuleviciute" userId="6ac88c7298706d5c" providerId="LiveId" clId="{C4F772CC-1F1C-43E6-8151-41AA317964C8}" dt="2026-03-27T11:31:15.559" v="5608" actId="1076"/>
          <ac:spMkLst>
            <pc:docMk/>
            <pc:sldMk cId="4219388556" sldId="266"/>
            <ac:spMk id="8" creationId="{87932B7C-7BE5-8259-DC67-12F9CE867CD5}"/>
          </ac:spMkLst>
        </pc:spChg>
        <pc:spChg chg="add mod">
          <ac:chgData name="Karolina Varkuleviciute" userId="6ac88c7298706d5c" providerId="LiveId" clId="{C4F772CC-1F1C-43E6-8151-41AA317964C8}" dt="2026-03-27T11:31:10.859" v="5607" actId="1076"/>
          <ac:spMkLst>
            <pc:docMk/>
            <pc:sldMk cId="4219388556" sldId="266"/>
            <ac:spMk id="9" creationId="{52F118F8-C2BF-5F36-366E-A7757AB7C416}"/>
          </ac:spMkLst>
        </pc:spChg>
        <pc:picChg chg="add mod">
          <ac:chgData name="Karolina Varkuleviciute" userId="6ac88c7298706d5c" providerId="LiveId" clId="{C4F772CC-1F1C-43E6-8151-41AA317964C8}" dt="2026-03-27T11:22:48.196" v="5075"/>
          <ac:picMkLst>
            <pc:docMk/>
            <pc:sldMk cId="4219388556" sldId="266"/>
            <ac:picMk id="4" creationId="{4CEFE3F0-4543-7033-FE41-415A3B0D267B}"/>
          </ac:picMkLst>
        </pc:picChg>
        <pc:picChg chg="add mod modCrop">
          <ac:chgData name="Karolina Varkuleviciute" userId="6ac88c7298706d5c" providerId="LiveId" clId="{C4F772CC-1F1C-43E6-8151-41AA317964C8}" dt="2026-03-27T11:33:00.675" v="5620" actId="1076"/>
          <ac:picMkLst>
            <pc:docMk/>
            <pc:sldMk cId="4219388556" sldId="266"/>
            <ac:picMk id="11" creationId="{3C531A91-44CF-708E-412D-D03EB10EE4DB}"/>
          </ac:picMkLst>
        </pc:picChg>
        <pc:picChg chg="add mod modCrop">
          <ac:chgData name="Karolina Varkuleviciute" userId="6ac88c7298706d5c" providerId="LiveId" clId="{C4F772CC-1F1C-43E6-8151-41AA317964C8}" dt="2026-03-27T11:33:29.956" v="5630" actId="1076"/>
          <ac:picMkLst>
            <pc:docMk/>
            <pc:sldMk cId="4219388556" sldId="266"/>
            <ac:picMk id="12" creationId="{A40DBEAA-DFE7-5C02-EA04-6D574C93BC44}"/>
          </ac:picMkLst>
        </pc:picChg>
        <pc:picChg chg="add mod modCrop">
          <ac:chgData name="Karolina Varkuleviciute" userId="6ac88c7298706d5c" providerId="LiveId" clId="{C4F772CC-1F1C-43E6-8151-41AA317964C8}" dt="2026-03-27T11:33:11.581" v="5624" actId="1076"/>
          <ac:picMkLst>
            <pc:docMk/>
            <pc:sldMk cId="4219388556" sldId="266"/>
            <ac:picMk id="13" creationId="{6F71104F-5110-267B-B5D0-9BACF93B01A4}"/>
          </ac:picMkLst>
        </pc:picChg>
      </pc:sldChg>
      <pc:sldChg chg="addSp delSp modSp new mod modNotesTx">
        <pc:chgData name="Karolina Varkuleviciute" userId="6ac88c7298706d5c" providerId="LiveId" clId="{C4F772CC-1F1C-43E6-8151-41AA317964C8}" dt="2026-03-27T11:53:24.991" v="6616" actId="20577"/>
        <pc:sldMkLst>
          <pc:docMk/>
          <pc:sldMk cId="2639337881" sldId="267"/>
        </pc:sldMkLst>
        <pc:spChg chg="mod">
          <ac:chgData name="Karolina Varkuleviciute" userId="6ac88c7298706d5c" providerId="LiveId" clId="{C4F772CC-1F1C-43E6-8151-41AA317964C8}" dt="2026-03-27T11:23:15.665" v="5125" actId="20577"/>
          <ac:spMkLst>
            <pc:docMk/>
            <pc:sldMk cId="2639337881" sldId="267"/>
            <ac:spMk id="2" creationId="{B1E04638-3B7D-C60B-6C50-E64560E49CA5}"/>
          </ac:spMkLst>
        </pc:spChg>
        <pc:spChg chg="add del mod">
          <ac:chgData name="Karolina Varkuleviciute" userId="6ac88c7298706d5c" providerId="LiveId" clId="{C4F772CC-1F1C-43E6-8151-41AA317964C8}" dt="2026-03-27T11:42:45.729" v="6166" actId="27636"/>
          <ac:spMkLst>
            <pc:docMk/>
            <pc:sldMk cId="2639337881" sldId="267"/>
            <ac:spMk id="3" creationId="{BF9ABF19-A7B6-C5F8-B770-6C9BEFA54FD4}"/>
          </ac:spMkLst>
        </pc:spChg>
        <pc:picChg chg="add mod">
          <ac:chgData name="Karolina Varkuleviciute" userId="6ac88c7298706d5c" providerId="LiveId" clId="{C4F772CC-1F1C-43E6-8151-41AA317964C8}" dt="2026-03-27T11:23:10.434" v="5104"/>
          <ac:picMkLst>
            <pc:docMk/>
            <pc:sldMk cId="2639337881" sldId="267"/>
            <ac:picMk id="5" creationId="{03238977-5505-B278-F42A-47CD38E62E0D}"/>
          </ac:picMkLst>
        </pc:picChg>
        <pc:picChg chg="add mod">
          <ac:chgData name="Karolina Varkuleviciute" userId="6ac88c7298706d5c" providerId="LiveId" clId="{C4F772CC-1F1C-43E6-8151-41AA317964C8}" dt="2026-03-27T11:44:04.216" v="6172" actId="1076"/>
          <ac:picMkLst>
            <pc:docMk/>
            <pc:sldMk cId="2639337881" sldId="267"/>
            <ac:picMk id="9" creationId="{E34E65C2-0E7E-B5D7-60DC-75AF736C040A}"/>
          </ac:picMkLst>
        </pc:picChg>
      </pc:sldChg>
      <pc:sldChg chg="addSp delSp modSp new mod">
        <pc:chgData name="Karolina Varkuleviciute" userId="6ac88c7298706d5c" providerId="LiveId" clId="{C4F772CC-1F1C-43E6-8151-41AA317964C8}" dt="2026-03-27T11:50:24.091" v="6594" actId="1076"/>
        <pc:sldMkLst>
          <pc:docMk/>
          <pc:sldMk cId="3169274641" sldId="268"/>
        </pc:sldMkLst>
        <pc:spChg chg="mod">
          <ac:chgData name="Karolina Varkuleviciute" userId="6ac88c7298706d5c" providerId="LiveId" clId="{C4F772CC-1F1C-43E6-8151-41AA317964C8}" dt="2026-03-27T11:45:26.693" v="6191" actId="1076"/>
          <ac:spMkLst>
            <pc:docMk/>
            <pc:sldMk cId="3169274641" sldId="268"/>
            <ac:spMk id="2" creationId="{0BB8FD98-2D8B-4A72-EB8B-EFF274781881}"/>
          </ac:spMkLst>
        </pc:spChg>
        <pc:spChg chg="add mod">
          <ac:chgData name="Karolina Varkuleviciute" userId="6ac88c7298706d5c" providerId="LiveId" clId="{C4F772CC-1F1C-43E6-8151-41AA317964C8}" dt="2026-03-27T11:48:41.824" v="6552" actId="14100"/>
          <ac:spMkLst>
            <pc:docMk/>
            <pc:sldMk cId="3169274641" sldId="268"/>
            <ac:spMk id="6" creationId="{70BBFE92-8B82-3610-403A-8082265A121E}"/>
          </ac:spMkLst>
        </pc:spChg>
        <pc:spChg chg="add mod">
          <ac:chgData name="Karolina Varkuleviciute" userId="6ac88c7298706d5c" providerId="LiveId" clId="{C4F772CC-1F1C-43E6-8151-41AA317964C8}" dt="2026-03-27T11:49:03.987" v="6561" actId="1076"/>
          <ac:spMkLst>
            <pc:docMk/>
            <pc:sldMk cId="3169274641" sldId="268"/>
            <ac:spMk id="7" creationId="{10FC05D4-1FBA-8A6A-6E92-ABCD47C052F6}"/>
          </ac:spMkLst>
        </pc:spChg>
        <pc:spChg chg="add mod">
          <ac:chgData name="Karolina Varkuleviciute" userId="6ac88c7298706d5c" providerId="LiveId" clId="{C4F772CC-1F1C-43E6-8151-41AA317964C8}" dt="2026-03-27T11:49:27.867" v="6570" actId="1076"/>
          <ac:spMkLst>
            <pc:docMk/>
            <pc:sldMk cId="3169274641" sldId="268"/>
            <ac:spMk id="8" creationId="{D7B744DC-5BA3-9244-7307-2C2E018941E1}"/>
          </ac:spMkLst>
        </pc:spChg>
        <pc:spChg chg="add mod">
          <ac:chgData name="Karolina Varkuleviciute" userId="6ac88c7298706d5c" providerId="LiveId" clId="{C4F772CC-1F1C-43E6-8151-41AA317964C8}" dt="2026-03-27T11:49:49.118" v="6579" actId="1076"/>
          <ac:spMkLst>
            <pc:docMk/>
            <pc:sldMk cId="3169274641" sldId="268"/>
            <ac:spMk id="9" creationId="{E93B58AF-9ED1-EBD6-0B84-0B067DF99360}"/>
          </ac:spMkLst>
        </pc:spChg>
        <pc:spChg chg="add mod">
          <ac:chgData name="Karolina Varkuleviciute" userId="6ac88c7298706d5c" providerId="LiveId" clId="{C4F772CC-1F1C-43E6-8151-41AA317964C8}" dt="2026-03-27T11:50:08.238" v="6587" actId="1076"/>
          <ac:spMkLst>
            <pc:docMk/>
            <pc:sldMk cId="3169274641" sldId="268"/>
            <ac:spMk id="10" creationId="{FB5F6AFB-C3F8-F16D-ECBA-39656D7C9A5B}"/>
          </ac:spMkLst>
        </pc:spChg>
        <pc:spChg chg="add mod">
          <ac:chgData name="Karolina Varkuleviciute" userId="6ac88c7298706d5c" providerId="LiveId" clId="{C4F772CC-1F1C-43E6-8151-41AA317964C8}" dt="2026-03-27T11:50:24.091" v="6594" actId="1076"/>
          <ac:spMkLst>
            <pc:docMk/>
            <pc:sldMk cId="3169274641" sldId="268"/>
            <ac:spMk id="11" creationId="{BA941973-E24E-19D1-C117-771E2B319CE7}"/>
          </ac:spMkLst>
        </pc:spChg>
        <pc:picChg chg="add mod">
          <ac:chgData name="Karolina Varkuleviciute" userId="6ac88c7298706d5c" providerId="LiveId" clId="{C4F772CC-1F1C-43E6-8151-41AA317964C8}" dt="2026-03-27T11:45:15.644" v="6175"/>
          <ac:picMkLst>
            <pc:docMk/>
            <pc:sldMk cId="3169274641" sldId="268"/>
            <ac:picMk id="5" creationId="{61959D25-F8C4-F4C4-02AD-0EFEDA57742D}"/>
          </ac:picMkLst>
        </pc:picChg>
      </pc:sldChg>
      <pc:sldChg chg="addSp modSp new del mod">
        <pc:chgData name="Karolina Varkuleviciute" userId="6ac88c7298706d5c" providerId="LiveId" clId="{C4F772CC-1F1C-43E6-8151-41AA317964C8}" dt="2026-04-07T06:44:20.532" v="6631" actId="2696"/>
        <pc:sldMkLst>
          <pc:docMk/>
          <pc:sldMk cId="3811028368" sldId="269"/>
        </pc:sldMkLst>
        <pc:spChg chg="add mod">
          <ac:chgData name="Karolina Varkuleviciute" userId="6ac88c7298706d5c" providerId="LiveId" clId="{C4F772CC-1F1C-43E6-8151-41AA317964C8}" dt="2026-04-07T06:40:59.929" v="6619" actId="1076"/>
          <ac:spMkLst>
            <pc:docMk/>
            <pc:sldMk cId="3811028368" sldId="269"/>
            <ac:spMk id="5" creationId="{D393D599-F29F-0FF8-4141-D91E5C8691EE}"/>
          </ac:spMkLst>
        </pc:spChg>
        <pc:spChg chg="add mod">
          <ac:chgData name="Karolina Varkuleviciute" userId="6ac88c7298706d5c" providerId="LiveId" clId="{C4F772CC-1F1C-43E6-8151-41AA317964C8}" dt="2026-04-07T06:40:59.929" v="6619" actId="1076"/>
          <ac:spMkLst>
            <pc:docMk/>
            <pc:sldMk cId="3811028368" sldId="269"/>
            <ac:spMk id="6" creationId="{F94DA469-910A-D43C-D446-593057AFA9C8}"/>
          </ac:spMkLst>
        </pc:spChg>
        <pc:spChg chg="add mod">
          <ac:chgData name="Karolina Varkuleviciute" userId="6ac88c7298706d5c" providerId="LiveId" clId="{C4F772CC-1F1C-43E6-8151-41AA317964C8}" dt="2026-04-07T06:40:59.929" v="6619" actId="1076"/>
          <ac:spMkLst>
            <pc:docMk/>
            <pc:sldMk cId="3811028368" sldId="269"/>
            <ac:spMk id="7" creationId="{376A6F87-6C3C-9134-F689-21AD4537830D}"/>
          </ac:spMkLst>
        </pc:spChg>
        <pc:spChg chg="add mod">
          <ac:chgData name="Karolina Varkuleviciute" userId="6ac88c7298706d5c" providerId="LiveId" clId="{C4F772CC-1F1C-43E6-8151-41AA317964C8}" dt="2026-04-07T06:40:59.929" v="6619" actId="1076"/>
          <ac:spMkLst>
            <pc:docMk/>
            <pc:sldMk cId="3811028368" sldId="269"/>
            <ac:spMk id="8" creationId="{46E7D74F-BFAF-1EF5-14C2-4B3833C31198}"/>
          </ac:spMkLst>
        </pc:spChg>
        <pc:spChg chg="add mod">
          <ac:chgData name="Karolina Varkuleviciute" userId="6ac88c7298706d5c" providerId="LiveId" clId="{C4F772CC-1F1C-43E6-8151-41AA317964C8}" dt="2026-04-07T06:41:02.192" v="6621" actId="1076"/>
          <ac:spMkLst>
            <pc:docMk/>
            <pc:sldMk cId="3811028368" sldId="269"/>
            <ac:spMk id="10" creationId="{2128928E-2C4F-4E4E-1671-A3E9D0C4AE3A}"/>
          </ac:spMkLst>
        </pc:spChg>
        <pc:spChg chg="add mod">
          <ac:chgData name="Karolina Varkuleviciute" userId="6ac88c7298706d5c" providerId="LiveId" clId="{C4F772CC-1F1C-43E6-8151-41AA317964C8}" dt="2026-04-07T06:41:02.192" v="6621" actId="1076"/>
          <ac:spMkLst>
            <pc:docMk/>
            <pc:sldMk cId="3811028368" sldId="269"/>
            <ac:spMk id="11" creationId="{58A4C807-C099-C902-C88F-E29AFB7E7302}"/>
          </ac:spMkLst>
        </pc:spChg>
        <pc:spChg chg="add mod">
          <ac:chgData name="Karolina Varkuleviciute" userId="6ac88c7298706d5c" providerId="LiveId" clId="{C4F772CC-1F1C-43E6-8151-41AA317964C8}" dt="2026-04-07T06:41:02.192" v="6621" actId="1076"/>
          <ac:spMkLst>
            <pc:docMk/>
            <pc:sldMk cId="3811028368" sldId="269"/>
            <ac:spMk id="12" creationId="{84AF8DA2-4C10-1C7B-C533-88427E6C66C1}"/>
          </ac:spMkLst>
        </pc:spChg>
        <pc:spChg chg="add mod">
          <ac:chgData name="Karolina Varkuleviciute" userId="6ac88c7298706d5c" providerId="LiveId" clId="{C4F772CC-1F1C-43E6-8151-41AA317964C8}" dt="2026-04-07T06:41:02.192" v="6621" actId="1076"/>
          <ac:spMkLst>
            <pc:docMk/>
            <pc:sldMk cId="3811028368" sldId="269"/>
            <ac:spMk id="13" creationId="{E0EC39EB-7875-B2E6-25BB-E22FFD023B26}"/>
          </ac:spMkLst>
        </pc:spChg>
        <pc:picChg chg="add mod modCrop">
          <ac:chgData name="Karolina Varkuleviciute" userId="6ac88c7298706d5c" providerId="LiveId" clId="{C4F772CC-1F1C-43E6-8151-41AA317964C8}" dt="2026-04-07T06:41:19.848" v="6625" actId="732"/>
          <ac:picMkLst>
            <pc:docMk/>
            <pc:sldMk cId="3811028368" sldId="269"/>
            <ac:picMk id="4" creationId="{8313AF9A-8BC3-D58E-C749-BAAF84559A22}"/>
          </ac:picMkLst>
        </pc:picChg>
        <pc:picChg chg="add mod modCrop">
          <ac:chgData name="Karolina Varkuleviciute" userId="6ac88c7298706d5c" providerId="LiveId" clId="{C4F772CC-1F1C-43E6-8151-41AA317964C8}" dt="2026-04-07T06:41:35.830" v="6630" actId="732"/>
          <ac:picMkLst>
            <pc:docMk/>
            <pc:sldMk cId="3811028368" sldId="269"/>
            <ac:picMk id="9" creationId="{4FE1E931-49B7-2E34-7480-357FEF3E2B84}"/>
          </ac:picMkLst>
        </pc:picChg>
      </pc:sldChg>
      <pc:sldMasterChg chg="setBg modSldLayout">
        <pc:chgData name="Karolina Varkuleviciute" userId="6ac88c7298706d5c" providerId="LiveId" clId="{C4F772CC-1F1C-43E6-8151-41AA317964C8}" dt="2026-03-27T08:56:08.365" v="214"/>
        <pc:sldMasterMkLst>
          <pc:docMk/>
          <pc:sldMasterMk cId="2787984488" sldId="2147483648"/>
        </pc:sldMasterMkLst>
        <pc:sldLayoutChg chg="setBg">
          <pc:chgData name="Karolina Varkuleviciute" userId="6ac88c7298706d5c" providerId="LiveId" clId="{C4F772CC-1F1C-43E6-8151-41AA317964C8}" dt="2026-03-27T08:56:08.365" v="214"/>
          <pc:sldLayoutMkLst>
            <pc:docMk/>
            <pc:sldMasterMk cId="2787984488" sldId="2147483648"/>
            <pc:sldLayoutMk cId="3502786632" sldId="2147483649"/>
          </pc:sldLayoutMkLst>
        </pc:sldLayoutChg>
        <pc:sldLayoutChg chg="setBg">
          <pc:chgData name="Karolina Varkuleviciute" userId="6ac88c7298706d5c" providerId="LiveId" clId="{C4F772CC-1F1C-43E6-8151-41AA317964C8}" dt="2026-03-27T08:56:08.365" v="214"/>
          <pc:sldLayoutMkLst>
            <pc:docMk/>
            <pc:sldMasterMk cId="2787984488" sldId="2147483648"/>
            <pc:sldLayoutMk cId="2526412245" sldId="2147483650"/>
          </pc:sldLayoutMkLst>
        </pc:sldLayoutChg>
        <pc:sldLayoutChg chg="setBg">
          <pc:chgData name="Karolina Varkuleviciute" userId="6ac88c7298706d5c" providerId="LiveId" clId="{C4F772CC-1F1C-43E6-8151-41AA317964C8}" dt="2026-03-27T08:56:08.365" v="214"/>
          <pc:sldLayoutMkLst>
            <pc:docMk/>
            <pc:sldMasterMk cId="2787984488" sldId="2147483648"/>
            <pc:sldLayoutMk cId="328054227" sldId="2147483651"/>
          </pc:sldLayoutMkLst>
        </pc:sldLayoutChg>
        <pc:sldLayoutChg chg="setBg">
          <pc:chgData name="Karolina Varkuleviciute" userId="6ac88c7298706d5c" providerId="LiveId" clId="{C4F772CC-1F1C-43E6-8151-41AA317964C8}" dt="2026-03-27T08:56:08.365" v="214"/>
          <pc:sldLayoutMkLst>
            <pc:docMk/>
            <pc:sldMasterMk cId="2787984488" sldId="2147483648"/>
            <pc:sldLayoutMk cId="3525233061" sldId="2147483652"/>
          </pc:sldLayoutMkLst>
        </pc:sldLayoutChg>
        <pc:sldLayoutChg chg="setBg">
          <pc:chgData name="Karolina Varkuleviciute" userId="6ac88c7298706d5c" providerId="LiveId" clId="{C4F772CC-1F1C-43E6-8151-41AA317964C8}" dt="2026-03-27T08:56:08.365" v="214"/>
          <pc:sldLayoutMkLst>
            <pc:docMk/>
            <pc:sldMasterMk cId="2787984488" sldId="2147483648"/>
            <pc:sldLayoutMk cId="1387615260" sldId="2147483653"/>
          </pc:sldLayoutMkLst>
        </pc:sldLayoutChg>
        <pc:sldLayoutChg chg="setBg">
          <pc:chgData name="Karolina Varkuleviciute" userId="6ac88c7298706d5c" providerId="LiveId" clId="{C4F772CC-1F1C-43E6-8151-41AA317964C8}" dt="2026-03-27T08:56:08.365" v="214"/>
          <pc:sldLayoutMkLst>
            <pc:docMk/>
            <pc:sldMasterMk cId="2787984488" sldId="2147483648"/>
            <pc:sldLayoutMk cId="3012346914" sldId="2147483654"/>
          </pc:sldLayoutMkLst>
        </pc:sldLayoutChg>
        <pc:sldLayoutChg chg="setBg">
          <pc:chgData name="Karolina Varkuleviciute" userId="6ac88c7298706d5c" providerId="LiveId" clId="{C4F772CC-1F1C-43E6-8151-41AA317964C8}" dt="2026-03-27T08:56:08.365" v="214"/>
          <pc:sldLayoutMkLst>
            <pc:docMk/>
            <pc:sldMasterMk cId="2787984488" sldId="2147483648"/>
            <pc:sldLayoutMk cId="3282818995" sldId="2147483655"/>
          </pc:sldLayoutMkLst>
        </pc:sldLayoutChg>
        <pc:sldLayoutChg chg="setBg">
          <pc:chgData name="Karolina Varkuleviciute" userId="6ac88c7298706d5c" providerId="LiveId" clId="{C4F772CC-1F1C-43E6-8151-41AA317964C8}" dt="2026-03-27T08:56:08.365" v="214"/>
          <pc:sldLayoutMkLst>
            <pc:docMk/>
            <pc:sldMasterMk cId="2787984488" sldId="2147483648"/>
            <pc:sldLayoutMk cId="2174688700" sldId="2147483656"/>
          </pc:sldLayoutMkLst>
        </pc:sldLayoutChg>
        <pc:sldLayoutChg chg="setBg">
          <pc:chgData name="Karolina Varkuleviciute" userId="6ac88c7298706d5c" providerId="LiveId" clId="{C4F772CC-1F1C-43E6-8151-41AA317964C8}" dt="2026-03-27T08:56:08.365" v="214"/>
          <pc:sldLayoutMkLst>
            <pc:docMk/>
            <pc:sldMasterMk cId="2787984488" sldId="2147483648"/>
            <pc:sldLayoutMk cId="3973330422" sldId="2147483657"/>
          </pc:sldLayoutMkLst>
        </pc:sldLayoutChg>
        <pc:sldLayoutChg chg="setBg">
          <pc:chgData name="Karolina Varkuleviciute" userId="6ac88c7298706d5c" providerId="LiveId" clId="{C4F772CC-1F1C-43E6-8151-41AA317964C8}" dt="2026-03-27T08:56:08.365" v="214"/>
          <pc:sldLayoutMkLst>
            <pc:docMk/>
            <pc:sldMasterMk cId="2787984488" sldId="2147483648"/>
            <pc:sldLayoutMk cId="2523277006" sldId="2147483658"/>
          </pc:sldLayoutMkLst>
        </pc:sldLayoutChg>
        <pc:sldLayoutChg chg="setBg">
          <pc:chgData name="Karolina Varkuleviciute" userId="6ac88c7298706d5c" providerId="LiveId" clId="{C4F772CC-1F1C-43E6-8151-41AA317964C8}" dt="2026-03-27T08:56:08.365" v="214"/>
          <pc:sldLayoutMkLst>
            <pc:docMk/>
            <pc:sldMasterMk cId="2787984488" sldId="2147483648"/>
            <pc:sldLayoutMk cId="163462525"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CE6282-DCB1-45D0-9AF0-706DE95912E4}" type="datetimeFigureOut">
              <a:rPr lang="LID4096" smtClean="0"/>
              <a:t>04/07/2026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94CEA-F49E-48B8-AF73-93270BBBC39E}" type="slidenum">
              <a:rPr lang="LID4096" smtClean="0"/>
              <a:t>‹#›</a:t>
            </a:fld>
            <a:endParaRPr lang="LID4096"/>
          </a:p>
        </p:txBody>
      </p:sp>
    </p:spTree>
    <p:extLst>
      <p:ext uri="{BB962C8B-B14F-4D97-AF65-F5344CB8AC3E}">
        <p14:creationId xmlns:p14="http://schemas.microsoft.com/office/powerpoint/2010/main" val="1067731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project, I </a:t>
            </a:r>
            <a:r>
              <a:rPr lang="en-GB" dirty="0" err="1"/>
              <a:t>analyzed</a:t>
            </a:r>
            <a:r>
              <a:rPr lang="en-GB" dirty="0"/>
              <a:t> </a:t>
            </a:r>
            <a:r>
              <a:rPr lang="en-GB" b="1" dirty="0"/>
              <a:t>customer purchasing </a:t>
            </a:r>
            <a:r>
              <a:rPr lang="en-GB" b="1" dirty="0" err="1"/>
              <a:t>behavior</a:t>
            </a:r>
            <a:r>
              <a:rPr lang="en-GB" dirty="0"/>
              <a:t> for Vertex Supply Co., a </a:t>
            </a:r>
            <a:r>
              <a:rPr lang="en-GB" b="1" dirty="0"/>
              <a:t>mid-sized B2B office supply company</a:t>
            </a:r>
            <a:r>
              <a:rPr lang="en-GB" dirty="0"/>
              <a:t>.</a:t>
            </a:r>
            <a:br>
              <a:rPr lang="en-GB" dirty="0"/>
            </a:br>
            <a:r>
              <a:rPr lang="en-GB" dirty="0"/>
              <a:t>The goal was to understand </a:t>
            </a:r>
            <a:r>
              <a:rPr lang="en-GB" b="1" dirty="0"/>
              <a:t>what drives revenue </a:t>
            </a:r>
            <a:r>
              <a:rPr lang="en-GB" dirty="0"/>
              <a:t>and identify opportunities to </a:t>
            </a:r>
            <a:r>
              <a:rPr lang="en-GB" b="1" dirty="0"/>
              <a:t>improve customer retention </a:t>
            </a:r>
            <a:r>
              <a:rPr lang="en-GB" dirty="0"/>
              <a:t>using </a:t>
            </a:r>
            <a:r>
              <a:rPr lang="en-GB" b="1" dirty="0"/>
              <a:t>RFM segmentation </a:t>
            </a:r>
            <a:r>
              <a:rPr lang="en-GB" dirty="0"/>
              <a:t>and </a:t>
            </a:r>
            <a:r>
              <a:rPr lang="en-GB" b="1" dirty="0"/>
              <a:t>cohort analysis</a:t>
            </a:r>
            <a:r>
              <a:rPr lang="en-GB" dirty="0"/>
              <a:t>.</a:t>
            </a:r>
            <a:endParaRPr lang="LID4096" dirty="0"/>
          </a:p>
        </p:txBody>
      </p:sp>
      <p:sp>
        <p:nvSpPr>
          <p:cNvPr id="4" name="Slide Number Placeholder 3"/>
          <p:cNvSpPr>
            <a:spLocks noGrp="1"/>
          </p:cNvSpPr>
          <p:nvPr>
            <p:ph type="sldNum" sz="quarter" idx="5"/>
          </p:nvPr>
        </p:nvSpPr>
        <p:spPr/>
        <p:txBody>
          <a:bodyPr/>
          <a:lstStyle/>
          <a:p>
            <a:fld id="{B8994CEA-F49E-48B8-AF73-93270BBBC39E}" type="slidenum">
              <a:rPr lang="LID4096" smtClean="0"/>
              <a:t>1</a:t>
            </a:fld>
            <a:endParaRPr lang="LID4096"/>
          </a:p>
        </p:txBody>
      </p:sp>
    </p:spTree>
    <p:extLst>
      <p:ext uri="{BB962C8B-B14F-4D97-AF65-F5344CB8AC3E}">
        <p14:creationId xmlns:p14="http://schemas.microsoft.com/office/powerpoint/2010/main" val="88201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understand what’s driving performance, I structured the analysis around three dimensions:</a:t>
            </a:r>
            <a:br>
              <a:rPr lang="en-GB" dirty="0"/>
            </a:br>
            <a:r>
              <a:rPr lang="en-GB" dirty="0"/>
              <a:t>First, </a:t>
            </a:r>
            <a:r>
              <a:rPr lang="en-GB" b="1" dirty="0"/>
              <a:t>customer value using RFM segmentation</a:t>
            </a:r>
            <a:r>
              <a:rPr lang="en-GB" dirty="0"/>
              <a:t>.</a:t>
            </a:r>
            <a:br>
              <a:rPr lang="en-GB" dirty="0"/>
            </a:br>
            <a:r>
              <a:rPr lang="en-GB" dirty="0"/>
              <a:t>Second, </a:t>
            </a:r>
            <a:r>
              <a:rPr lang="en-GB" b="1" dirty="0"/>
              <a:t>revenue and regional performance </a:t>
            </a:r>
            <a:r>
              <a:rPr lang="en-GB" dirty="0"/>
              <a:t>to understand where value is generated.</a:t>
            </a:r>
            <a:br>
              <a:rPr lang="en-GB" dirty="0"/>
            </a:br>
            <a:r>
              <a:rPr lang="en-GB" dirty="0"/>
              <a:t>And third, </a:t>
            </a:r>
            <a:r>
              <a:rPr lang="en-GB" b="1" dirty="0"/>
              <a:t>customer lifecycle behaviour </a:t>
            </a:r>
            <a:r>
              <a:rPr lang="en-GB" dirty="0"/>
              <a:t>using cohorts to see how engagement evolves over time.</a:t>
            </a:r>
            <a:br>
              <a:rPr lang="en-GB" dirty="0"/>
            </a:br>
            <a:r>
              <a:rPr lang="en-GB" dirty="0"/>
              <a:t>This combination allows us to identify not just who our customers are, but how they change and where we risk losing them.</a:t>
            </a:r>
            <a:endParaRPr lang="LID4096" dirty="0"/>
          </a:p>
        </p:txBody>
      </p:sp>
      <p:sp>
        <p:nvSpPr>
          <p:cNvPr id="4" name="Slide Number Placeholder 3"/>
          <p:cNvSpPr>
            <a:spLocks noGrp="1"/>
          </p:cNvSpPr>
          <p:nvPr>
            <p:ph type="sldNum" sz="quarter" idx="5"/>
          </p:nvPr>
        </p:nvSpPr>
        <p:spPr/>
        <p:txBody>
          <a:bodyPr/>
          <a:lstStyle/>
          <a:p>
            <a:fld id="{B8994CEA-F49E-48B8-AF73-93270BBBC39E}" type="slidenum">
              <a:rPr lang="LID4096" smtClean="0"/>
              <a:t>3</a:t>
            </a:fld>
            <a:endParaRPr lang="LID4096"/>
          </a:p>
        </p:txBody>
      </p:sp>
    </p:spTree>
    <p:extLst>
      <p:ext uri="{BB962C8B-B14F-4D97-AF65-F5344CB8AC3E}">
        <p14:creationId xmlns:p14="http://schemas.microsoft.com/office/powerpoint/2010/main" val="1641095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Looking at overall business performance, we see a </a:t>
            </a:r>
            <a:r>
              <a:rPr lang="en-GB" b="1" dirty="0"/>
              <a:t>clear downward trend</a:t>
            </a:r>
            <a:r>
              <a:rPr lang="en-GB" dirty="0"/>
              <a:t>.</a:t>
            </a:r>
            <a:br>
              <a:rPr lang="en-GB" dirty="0"/>
            </a:br>
            <a:r>
              <a:rPr lang="en-GB" dirty="0"/>
              <a:t>Revenue has </a:t>
            </a:r>
            <a:r>
              <a:rPr lang="en-GB" b="1" dirty="0"/>
              <a:t>decreased significantly over the period</a:t>
            </a:r>
            <a:r>
              <a:rPr lang="en-GB" dirty="0"/>
              <a:t>, alongside a </a:t>
            </a:r>
            <a:r>
              <a:rPr lang="en-GB" b="1" dirty="0"/>
              <a:t>sharp decline in transactions and active customers</a:t>
            </a:r>
            <a:r>
              <a:rPr lang="en-GB" dirty="0"/>
              <a:t>.</a:t>
            </a:r>
            <a:br>
              <a:rPr lang="en-GB" dirty="0"/>
            </a:br>
            <a:r>
              <a:rPr lang="en-GB" dirty="0"/>
              <a:t>Active customers dropped from 100 to 49, while transactions fell from 9.5 thousand to just over 2 thousand.</a:t>
            </a:r>
            <a:br>
              <a:rPr lang="en-GB" dirty="0"/>
            </a:br>
            <a:r>
              <a:rPr lang="en-GB" dirty="0"/>
              <a:t>However, average order value has remained stable at around 2.5 million.</a:t>
            </a:r>
            <a:br>
              <a:rPr lang="en-GB" dirty="0"/>
            </a:br>
            <a:r>
              <a:rPr lang="en-GB" dirty="0"/>
              <a:t>This indicates that </a:t>
            </a:r>
            <a:r>
              <a:rPr lang="en-GB" b="1" dirty="0"/>
              <a:t>customers who remain are still spending at similar levels</a:t>
            </a:r>
            <a:r>
              <a:rPr lang="en-GB" dirty="0"/>
              <a:t>.</a:t>
            </a:r>
            <a:br>
              <a:rPr lang="en-GB" dirty="0"/>
            </a:br>
            <a:r>
              <a:rPr lang="en-GB" dirty="0"/>
              <a:t>So the </a:t>
            </a:r>
            <a:r>
              <a:rPr lang="en-GB" b="1" dirty="0"/>
              <a:t>decline in revenue is primarily driven by reduced customer activity</a:t>
            </a:r>
            <a:r>
              <a:rPr lang="en-GB" dirty="0"/>
              <a:t> rather than changes in spending </a:t>
            </a:r>
            <a:r>
              <a:rPr lang="en-GB" dirty="0" err="1"/>
              <a:t>behavior</a:t>
            </a:r>
            <a:r>
              <a:rPr lang="en-GB" dirty="0"/>
              <a:t>.</a:t>
            </a:r>
            <a:endParaRPr lang="LID4096" dirty="0"/>
          </a:p>
        </p:txBody>
      </p:sp>
      <p:sp>
        <p:nvSpPr>
          <p:cNvPr id="4" name="Slide Number Placeholder 3"/>
          <p:cNvSpPr>
            <a:spLocks noGrp="1"/>
          </p:cNvSpPr>
          <p:nvPr>
            <p:ph type="sldNum" sz="quarter" idx="5"/>
          </p:nvPr>
        </p:nvSpPr>
        <p:spPr/>
        <p:txBody>
          <a:bodyPr/>
          <a:lstStyle/>
          <a:p>
            <a:fld id="{B8994CEA-F49E-48B8-AF73-93270BBBC39E}" type="slidenum">
              <a:rPr lang="LID4096" smtClean="0"/>
              <a:t>4</a:t>
            </a:fld>
            <a:endParaRPr lang="LID4096"/>
          </a:p>
        </p:txBody>
      </p:sp>
    </p:spTree>
    <p:extLst>
      <p:ext uri="{BB962C8B-B14F-4D97-AF65-F5344CB8AC3E}">
        <p14:creationId xmlns:p14="http://schemas.microsoft.com/office/powerpoint/2010/main" val="1951942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dirty="0"/>
              <a:t>Breaking down customer activity, we see a </a:t>
            </a:r>
            <a:r>
              <a:rPr lang="en-GB" b="1" dirty="0"/>
              <a:t>consistent decline across both transactions and active customers</a:t>
            </a:r>
            <a:r>
              <a:rPr lang="en-GB" dirty="0"/>
              <a:t>.</a:t>
            </a:r>
          </a:p>
          <a:p>
            <a:pPr marL="171450" indent="-171450">
              <a:buFont typeface="Arial" panose="020B0604020202020204" pitchFamily="34" charset="0"/>
              <a:buChar char="•"/>
            </a:pPr>
            <a:r>
              <a:rPr lang="en-GB" dirty="0"/>
              <a:t>Transactions dropped from 9.5 thousand in January to just over 2 thousand in June, representing a </a:t>
            </a:r>
            <a:r>
              <a:rPr lang="en-GB" b="1" dirty="0"/>
              <a:t>75% decrease</a:t>
            </a:r>
            <a:r>
              <a:rPr lang="en-GB" dirty="0"/>
              <a:t>.</a:t>
            </a:r>
          </a:p>
          <a:p>
            <a:pPr marL="171450" indent="-171450">
              <a:buFont typeface="Arial" panose="020B0604020202020204" pitchFamily="34" charset="0"/>
              <a:buChar char="•"/>
            </a:pPr>
            <a:r>
              <a:rPr lang="en-GB" dirty="0"/>
              <a:t>At the same time, the number of active customers fell from 100 to 49.</a:t>
            </a:r>
          </a:p>
          <a:p>
            <a:pPr marL="171450" indent="-171450">
              <a:buFont typeface="Arial" panose="020B0604020202020204" pitchFamily="34" charset="0"/>
              <a:buChar char="•"/>
            </a:pPr>
            <a:r>
              <a:rPr lang="en-GB" dirty="0"/>
              <a:t>Importantly, this decline is steady across the entire period, with </a:t>
            </a:r>
            <a:r>
              <a:rPr lang="en-GB" b="1" dirty="0"/>
              <a:t>no clear signs of recovery</a:t>
            </a:r>
            <a:r>
              <a:rPr lang="en-GB" dirty="0"/>
              <a:t>.</a:t>
            </a:r>
          </a:p>
          <a:p>
            <a:pPr marL="0" indent="0">
              <a:buFont typeface="Arial" panose="020B0604020202020204" pitchFamily="34" charset="0"/>
              <a:buNone/>
            </a:pPr>
            <a:r>
              <a:rPr lang="en-GB" dirty="0"/>
              <a:t>This indicates that </a:t>
            </a:r>
            <a:r>
              <a:rPr lang="en-GB" b="1" dirty="0"/>
              <a:t>fewer customers are engaging with the business over time</a:t>
            </a:r>
            <a:r>
              <a:rPr lang="en-GB" dirty="0"/>
              <a:t>, which directly explains the drop in revenue.</a:t>
            </a:r>
            <a:endParaRPr lang="LID4096" dirty="0"/>
          </a:p>
        </p:txBody>
      </p:sp>
      <p:sp>
        <p:nvSpPr>
          <p:cNvPr id="4" name="Slide Number Placeholder 3"/>
          <p:cNvSpPr>
            <a:spLocks noGrp="1"/>
          </p:cNvSpPr>
          <p:nvPr>
            <p:ph type="sldNum" sz="quarter" idx="5"/>
          </p:nvPr>
        </p:nvSpPr>
        <p:spPr/>
        <p:txBody>
          <a:bodyPr/>
          <a:lstStyle/>
          <a:p>
            <a:fld id="{B8994CEA-F49E-48B8-AF73-93270BBBC39E}" type="slidenum">
              <a:rPr lang="LID4096" smtClean="0"/>
              <a:t>5</a:t>
            </a:fld>
            <a:endParaRPr lang="LID4096"/>
          </a:p>
        </p:txBody>
      </p:sp>
    </p:spTree>
    <p:extLst>
      <p:ext uri="{BB962C8B-B14F-4D97-AF65-F5344CB8AC3E}">
        <p14:creationId xmlns:p14="http://schemas.microsoft.com/office/powerpoint/2010/main" val="3068018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Looking at spending per customer, we see a very different pattern.</a:t>
            </a:r>
          </a:p>
          <a:p>
            <a:pPr marL="171450" indent="-171450">
              <a:buFont typeface="Arial" panose="020B0604020202020204" pitchFamily="34" charset="0"/>
              <a:buChar char="•"/>
            </a:pPr>
            <a:r>
              <a:rPr lang="en-GB" b="1" dirty="0"/>
              <a:t>Average order value has remained stable </a:t>
            </a:r>
            <a:r>
              <a:rPr lang="en-GB" dirty="0"/>
              <a:t>throughout the period, fluctuating between roughly 2.42 and 2.54 million.</a:t>
            </a:r>
          </a:p>
          <a:p>
            <a:pPr marL="171450" indent="-171450">
              <a:buFont typeface="Arial" panose="020B0604020202020204" pitchFamily="34" charset="0"/>
              <a:buChar char="•"/>
            </a:pPr>
            <a:r>
              <a:rPr lang="en-GB" dirty="0"/>
              <a:t>This indicates that customers who remain active continue to spend at similar levels.</a:t>
            </a:r>
          </a:p>
          <a:p>
            <a:pPr marL="171450" indent="-171450">
              <a:buFont typeface="Arial" panose="020B0604020202020204" pitchFamily="34" charset="0"/>
              <a:buChar char="•"/>
            </a:pPr>
            <a:r>
              <a:rPr lang="en-GB" dirty="0"/>
              <a:t>So, the decline in revenue is not driven by customers spending less, but rather by fewer customers making purchases.</a:t>
            </a:r>
          </a:p>
          <a:p>
            <a:pPr marL="0" indent="0">
              <a:buFont typeface="Arial" panose="020B0604020202020204" pitchFamily="34" charset="0"/>
              <a:buNone/>
            </a:pPr>
            <a:r>
              <a:rPr lang="en-GB" dirty="0"/>
              <a:t>This confirms that the </a:t>
            </a:r>
            <a:r>
              <a:rPr lang="en-GB" b="1" dirty="0"/>
              <a:t>core issue is declining customer activity and engagement</a:t>
            </a:r>
            <a:r>
              <a:rPr lang="en-GB" dirty="0"/>
              <a:t>.</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So if the issue is declining customer activity, the next question is — which customers are we losing?</a:t>
            </a:r>
            <a:endParaRPr lang="LID4096" dirty="0"/>
          </a:p>
        </p:txBody>
      </p:sp>
      <p:sp>
        <p:nvSpPr>
          <p:cNvPr id="4" name="Slide Number Placeholder 3"/>
          <p:cNvSpPr>
            <a:spLocks noGrp="1"/>
          </p:cNvSpPr>
          <p:nvPr>
            <p:ph type="sldNum" sz="quarter" idx="5"/>
          </p:nvPr>
        </p:nvSpPr>
        <p:spPr/>
        <p:txBody>
          <a:bodyPr/>
          <a:lstStyle/>
          <a:p>
            <a:fld id="{B8994CEA-F49E-48B8-AF73-93270BBBC39E}" type="slidenum">
              <a:rPr lang="LID4096" smtClean="0"/>
              <a:t>6</a:t>
            </a:fld>
            <a:endParaRPr lang="LID4096"/>
          </a:p>
        </p:txBody>
      </p:sp>
    </p:spTree>
    <p:extLst>
      <p:ext uri="{BB962C8B-B14F-4D97-AF65-F5344CB8AC3E}">
        <p14:creationId xmlns:p14="http://schemas.microsoft.com/office/powerpoint/2010/main" val="4214870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Looking at customer segmentation, we see a concerning distribution:</a:t>
            </a:r>
          </a:p>
          <a:p>
            <a:pPr marL="171450" indent="-171450">
              <a:buFont typeface="Arial" panose="020B0604020202020204" pitchFamily="34" charset="0"/>
              <a:buChar char="•"/>
            </a:pPr>
            <a:r>
              <a:rPr lang="en-GB" dirty="0"/>
              <a:t>Around </a:t>
            </a:r>
            <a:r>
              <a:rPr lang="en-GB" b="1" dirty="0"/>
              <a:t>41% of customers fall into high-risk segments</a:t>
            </a:r>
            <a:r>
              <a:rPr lang="en-GB" dirty="0"/>
              <a:t>, including Hibernating, At Risk, and Can’t Lose Them.</a:t>
            </a:r>
          </a:p>
          <a:p>
            <a:pPr marL="171450" indent="-171450">
              <a:buFont typeface="Arial" panose="020B0604020202020204" pitchFamily="34" charset="0"/>
              <a:buChar char="•"/>
            </a:pPr>
            <a:r>
              <a:rPr lang="en-GB" dirty="0"/>
              <a:t>These are customers who were previously engaged but are now showing declining activity.</a:t>
            </a:r>
          </a:p>
          <a:p>
            <a:pPr marL="171450" indent="-171450">
              <a:buFont typeface="Arial" panose="020B0604020202020204" pitchFamily="34" charset="0"/>
              <a:buChar char="•"/>
            </a:pPr>
            <a:r>
              <a:rPr lang="en-GB" dirty="0"/>
              <a:t>At the same time, </a:t>
            </a:r>
            <a:r>
              <a:rPr lang="en-GB" b="1" dirty="0"/>
              <a:t>Potential Loyalists represent the largest segment at 26%</a:t>
            </a:r>
            <a:r>
              <a:rPr lang="en-GB" dirty="0"/>
              <a:t>, indicating a </a:t>
            </a:r>
            <a:r>
              <a:rPr lang="en-GB" b="1" dirty="0"/>
              <a:t>strong opportunity to grow </a:t>
            </a:r>
            <a:r>
              <a:rPr lang="en-GB" dirty="0"/>
              <a:t>future high-value customers.</a:t>
            </a:r>
          </a:p>
          <a:p>
            <a:pPr marL="171450" indent="-171450">
              <a:buFont typeface="Arial" panose="020B0604020202020204" pitchFamily="34" charset="0"/>
              <a:buChar char="•"/>
            </a:pPr>
            <a:r>
              <a:rPr lang="en-GB" dirty="0"/>
              <a:t>However, only about a </a:t>
            </a:r>
            <a:r>
              <a:rPr lang="en-GB" b="1" dirty="0"/>
              <a:t>quarter of the customer base is currently high-value</a:t>
            </a:r>
            <a:r>
              <a:rPr lang="en-GB" dirty="0"/>
              <a:t> and actively contributing to revenue.</a:t>
            </a:r>
          </a:p>
          <a:p>
            <a:pPr marL="0" indent="0">
              <a:buFont typeface="Arial" panose="020B0604020202020204" pitchFamily="34" charset="0"/>
              <a:buNone/>
            </a:pPr>
            <a:r>
              <a:rPr lang="en-GB" dirty="0"/>
              <a:t>This imbalance suggests that without intervention, the business risks losing a significant portion of its customer base.</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So we understand which customers are at risk — but </a:t>
            </a:r>
            <a:r>
              <a:rPr lang="en-GB" b="1" dirty="0"/>
              <a:t>how does this evolve over time?</a:t>
            </a:r>
            <a:endParaRPr lang="LID4096" b="1" dirty="0"/>
          </a:p>
        </p:txBody>
      </p:sp>
      <p:sp>
        <p:nvSpPr>
          <p:cNvPr id="4" name="Slide Number Placeholder 3"/>
          <p:cNvSpPr>
            <a:spLocks noGrp="1"/>
          </p:cNvSpPr>
          <p:nvPr>
            <p:ph type="sldNum" sz="quarter" idx="5"/>
          </p:nvPr>
        </p:nvSpPr>
        <p:spPr/>
        <p:txBody>
          <a:bodyPr/>
          <a:lstStyle/>
          <a:p>
            <a:fld id="{B8994CEA-F49E-48B8-AF73-93270BBBC39E}" type="slidenum">
              <a:rPr lang="LID4096" smtClean="0"/>
              <a:t>7</a:t>
            </a:fld>
            <a:endParaRPr lang="LID4096"/>
          </a:p>
        </p:txBody>
      </p:sp>
    </p:spTree>
    <p:extLst>
      <p:ext uri="{BB962C8B-B14F-4D97-AF65-F5344CB8AC3E}">
        <p14:creationId xmlns:p14="http://schemas.microsoft.com/office/powerpoint/2010/main" val="1086904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view allows us to understand how customer behaviour evolves over time.</a:t>
            </a:r>
          </a:p>
          <a:p>
            <a:pPr marL="171450" indent="-171450">
              <a:buFont typeface="Arial" panose="020B0604020202020204" pitchFamily="34" charset="0"/>
              <a:buChar char="•"/>
            </a:pPr>
            <a:r>
              <a:rPr lang="en-GB" dirty="0"/>
              <a:t>We can see </a:t>
            </a:r>
            <a:r>
              <a:rPr lang="en-GB" b="1" dirty="0"/>
              <a:t>that high-value segments </a:t>
            </a:r>
            <a:r>
              <a:rPr lang="en-GB" dirty="0"/>
              <a:t>such as Champions and Loyal customers </a:t>
            </a:r>
            <a:r>
              <a:rPr lang="en-GB" b="1" dirty="0"/>
              <a:t>steadily decline</a:t>
            </a:r>
            <a:r>
              <a:rPr lang="en-GB" dirty="0"/>
              <a:t>.</a:t>
            </a:r>
          </a:p>
          <a:p>
            <a:pPr marL="171450" indent="-171450">
              <a:buFont typeface="Arial" panose="020B0604020202020204" pitchFamily="34" charset="0"/>
              <a:buChar char="•"/>
            </a:pPr>
            <a:r>
              <a:rPr lang="en-GB" dirty="0"/>
              <a:t>At the same time, </a:t>
            </a:r>
            <a:r>
              <a:rPr lang="en-GB" b="1" dirty="0"/>
              <a:t>customers transition into At Risk and eventually Hibernating segments</a:t>
            </a:r>
            <a:r>
              <a:rPr lang="en-GB" dirty="0"/>
              <a:t>.</a:t>
            </a:r>
          </a:p>
          <a:p>
            <a:pPr marL="171450" indent="-171450">
              <a:buFont typeface="Arial" panose="020B0604020202020204" pitchFamily="34" charset="0"/>
              <a:buChar char="•"/>
            </a:pPr>
            <a:r>
              <a:rPr lang="en-GB" dirty="0"/>
              <a:t>This indicates that </a:t>
            </a:r>
            <a:r>
              <a:rPr lang="en-GB" b="1" dirty="0"/>
              <a:t>churn is not an immediate event</a:t>
            </a:r>
            <a:r>
              <a:rPr lang="en-GB" dirty="0"/>
              <a:t>, but rather a gradual process driven by declining engagement.</a:t>
            </a:r>
          </a:p>
          <a:p>
            <a:pPr marL="0" indent="0">
              <a:buFont typeface="Arial" panose="020B0604020202020204" pitchFamily="34" charset="0"/>
              <a:buNone/>
            </a:pPr>
            <a:r>
              <a:rPr lang="en-GB" dirty="0"/>
              <a:t>This is important because it suggests there is a </a:t>
            </a:r>
            <a:r>
              <a:rPr lang="en-GB" b="1" dirty="0"/>
              <a:t>window of opportunity to intervene before customers are fully lost</a:t>
            </a:r>
            <a:r>
              <a:rPr lang="en-GB" dirty="0"/>
              <a:t>.</a:t>
            </a:r>
            <a:endParaRPr lang="LID4096" dirty="0"/>
          </a:p>
        </p:txBody>
      </p:sp>
      <p:sp>
        <p:nvSpPr>
          <p:cNvPr id="4" name="Slide Number Placeholder 3"/>
          <p:cNvSpPr>
            <a:spLocks noGrp="1"/>
          </p:cNvSpPr>
          <p:nvPr>
            <p:ph type="sldNum" sz="quarter" idx="5"/>
          </p:nvPr>
        </p:nvSpPr>
        <p:spPr/>
        <p:txBody>
          <a:bodyPr/>
          <a:lstStyle/>
          <a:p>
            <a:fld id="{B8994CEA-F49E-48B8-AF73-93270BBBC39E}" type="slidenum">
              <a:rPr lang="LID4096" smtClean="0"/>
              <a:t>8</a:t>
            </a:fld>
            <a:endParaRPr lang="LID4096"/>
          </a:p>
        </p:txBody>
      </p:sp>
    </p:spTree>
    <p:extLst>
      <p:ext uri="{BB962C8B-B14F-4D97-AF65-F5344CB8AC3E}">
        <p14:creationId xmlns:p14="http://schemas.microsoft.com/office/powerpoint/2010/main" val="710480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dirty="0"/>
              <a:t>First, </a:t>
            </a:r>
            <a:r>
              <a:rPr lang="en-GB" b="1" dirty="0"/>
              <a:t>segment-based recovery </a:t>
            </a:r>
            <a:r>
              <a:rPr lang="en-GB" dirty="0"/>
              <a:t>focuses on reactivating customers who are already showing signs of disengagement. Segments like At Risk, Hibernating, and Can’t Lose Them represent previously active and often high-value customers. By targeting these groups with </a:t>
            </a:r>
            <a:r>
              <a:rPr lang="en-GB" b="1" dirty="0"/>
              <a:t>personalized offers and tailored communication</a:t>
            </a:r>
            <a:r>
              <a:rPr lang="en-GB" dirty="0"/>
              <a:t>, we can recover lost revenue more efficiently than acquiring new customers.</a:t>
            </a:r>
          </a:p>
          <a:p>
            <a:pPr marL="228600" indent="-228600">
              <a:buFont typeface="+mj-lt"/>
              <a:buAutoNum type="arabicPeriod"/>
            </a:pPr>
            <a:r>
              <a:rPr lang="en-GB" dirty="0"/>
              <a:t>Second, </a:t>
            </a:r>
            <a:r>
              <a:rPr lang="en-GB" b="1" dirty="0"/>
              <a:t>early decline detection builds on the insight that churn is a gradual process</a:t>
            </a:r>
            <a:r>
              <a:rPr lang="en-GB" dirty="0"/>
              <a:t>. Customers don’t churn suddenly — they move through stages of declining engagement. By </a:t>
            </a:r>
            <a:r>
              <a:rPr lang="en-GB" b="1" dirty="0"/>
              <a:t>monitoring changes</a:t>
            </a:r>
            <a:r>
              <a:rPr lang="en-GB" dirty="0"/>
              <a:t> in recency and frequency, we can identify early warning signs and intervene before customers become inactive. This allows for proactive retention rather than reactive recovery.</a:t>
            </a:r>
          </a:p>
          <a:p>
            <a:pPr marL="228600" indent="-228600">
              <a:buFont typeface="+mj-lt"/>
              <a:buAutoNum type="arabicPeriod"/>
            </a:pPr>
            <a:r>
              <a:rPr lang="en-GB" dirty="0"/>
              <a:t>Finally, </a:t>
            </a:r>
            <a:r>
              <a:rPr lang="en-GB" b="1" dirty="0"/>
              <a:t>regional growth focus ensures that resources are allocated</a:t>
            </a:r>
            <a:r>
              <a:rPr lang="en-GB" dirty="0"/>
              <a:t> where they can have the greatest impact. Since performance varies across regions, investment and marketing efforts should be prioritized based on regional customer behaviour, churn risk, and growth potential. This enables more efficient use of budget and supports scalable growth.</a:t>
            </a:r>
            <a:endParaRPr lang="LID4096" dirty="0"/>
          </a:p>
        </p:txBody>
      </p:sp>
      <p:sp>
        <p:nvSpPr>
          <p:cNvPr id="4" name="Slide Number Placeholder 3"/>
          <p:cNvSpPr>
            <a:spLocks noGrp="1"/>
          </p:cNvSpPr>
          <p:nvPr>
            <p:ph type="sldNum" sz="quarter" idx="5"/>
          </p:nvPr>
        </p:nvSpPr>
        <p:spPr/>
        <p:txBody>
          <a:bodyPr/>
          <a:lstStyle/>
          <a:p>
            <a:fld id="{B8994CEA-F49E-48B8-AF73-93270BBBC39E}" type="slidenum">
              <a:rPr lang="LID4096" smtClean="0"/>
              <a:t>9</a:t>
            </a:fld>
            <a:endParaRPr lang="LID4096"/>
          </a:p>
        </p:txBody>
      </p:sp>
    </p:spTree>
    <p:extLst>
      <p:ext uri="{BB962C8B-B14F-4D97-AF65-F5344CB8AC3E}">
        <p14:creationId xmlns:p14="http://schemas.microsoft.com/office/powerpoint/2010/main" val="898445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strategy focuses on recovering customers at different stages of disengagement, with tailored actions for each segment.</a:t>
            </a:r>
          </a:p>
          <a:p>
            <a:pPr marL="171450" indent="-171450">
              <a:buFont typeface="Arial" panose="020B0604020202020204" pitchFamily="34" charset="0"/>
              <a:buChar char="•"/>
            </a:pPr>
            <a:r>
              <a:rPr lang="en-GB" b="1" dirty="0"/>
              <a:t>At Risk customers have the highest probability </a:t>
            </a:r>
            <a:r>
              <a:rPr lang="en-GB" dirty="0"/>
              <a:t>of recovery through targeted campaigns, while Can’t Lose Them represent high-value customers where even small recovery rates can generate significant revenue impact.</a:t>
            </a:r>
          </a:p>
          <a:p>
            <a:pPr marL="171450" indent="-171450">
              <a:buFont typeface="Arial" panose="020B0604020202020204" pitchFamily="34" charset="0"/>
              <a:buChar char="•"/>
            </a:pPr>
            <a:r>
              <a:rPr lang="en-GB" dirty="0"/>
              <a:t>Hibernating customers </a:t>
            </a:r>
            <a:r>
              <a:rPr lang="en-GB" b="1" dirty="0"/>
              <a:t>are less likely to return, so lower-cost strategies</a:t>
            </a:r>
            <a:r>
              <a:rPr lang="en-GB" dirty="0"/>
              <a:t> are applied.</a:t>
            </a:r>
          </a:p>
          <a:p>
            <a:pPr marL="171450" indent="-171450">
              <a:buFont typeface="Arial" panose="020B0604020202020204" pitchFamily="34" charset="0"/>
              <a:buChar char="•"/>
            </a:pPr>
            <a:r>
              <a:rPr lang="en-GB" dirty="0"/>
              <a:t>Overall, even modest recovery rates across these segments could result in </a:t>
            </a:r>
            <a:r>
              <a:rPr lang="en-GB" b="1" dirty="0"/>
              <a:t>approximately 4–5% revenue uplift</a:t>
            </a:r>
            <a:r>
              <a:rPr lang="en-GB" dirty="0"/>
              <a:t>, representing a meaningful short-term improvement.</a:t>
            </a:r>
            <a:endParaRPr lang="LID4096" dirty="0"/>
          </a:p>
        </p:txBody>
      </p:sp>
      <p:sp>
        <p:nvSpPr>
          <p:cNvPr id="4" name="Slide Number Placeholder 3"/>
          <p:cNvSpPr>
            <a:spLocks noGrp="1"/>
          </p:cNvSpPr>
          <p:nvPr>
            <p:ph type="sldNum" sz="quarter" idx="5"/>
          </p:nvPr>
        </p:nvSpPr>
        <p:spPr/>
        <p:txBody>
          <a:bodyPr/>
          <a:lstStyle/>
          <a:p>
            <a:fld id="{B8994CEA-F49E-48B8-AF73-93270BBBC39E}" type="slidenum">
              <a:rPr lang="LID4096" smtClean="0"/>
              <a:t>10</a:t>
            </a:fld>
            <a:endParaRPr lang="LID4096"/>
          </a:p>
        </p:txBody>
      </p:sp>
    </p:spTree>
    <p:extLst>
      <p:ext uri="{BB962C8B-B14F-4D97-AF65-F5344CB8AC3E}">
        <p14:creationId xmlns:p14="http://schemas.microsoft.com/office/powerpoint/2010/main" val="3052692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approach focuses on identifying and addressing customer disengagement before churn occurs.</a:t>
            </a:r>
          </a:p>
          <a:p>
            <a:pPr marL="171450" indent="-171450">
              <a:buFont typeface="Arial" panose="020B0604020202020204" pitchFamily="34" charset="0"/>
              <a:buChar char="•"/>
            </a:pPr>
            <a:r>
              <a:rPr lang="en-GB" dirty="0"/>
              <a:t>Early warning signals such as increasing recency, declining purchase frequency, and reduced engagement indicate when customers begin to drop off.</a:t>
            </a:r>
          </a:p>
          <a:p>
            <a:pPr marL="171450" indent="-171450">
              <a:buFont typeface="Arial" panose="020B0604020202020204" pitchFamily="34" charset="0"/>
              <a:buChar char="•"/>
            </a:pPr>
            <a:r>
              <a:rPr lang="en-GB" dirty="0"/>
              <a:t>By triggering automated interventions — such as reminders after inactivity or personalized offers — the business can re-engage customers at the right moment.</a:t>
            </a:r>
          </a:p>
          <a:p>
            <a:pPr marL="171450" indent="-171450">
              <a:buFont typeface="Arial" panose="020B0604020202020204" pitchFamily="34" charset="0"/>
              <a:buChar char="•"/>
            </a:pPr>
            <a:r>
              <a:rPr lang="en-GB" dirty="0"/>
              <a:t>Continuous monitoring of segment migration allows tracking of these changes over time and evaluation of intervention effectiveness.</a:t>
            </a:r>
          </a:p>
          <a:p>
            <a:pPr marL="0" indent="0">
              <a:buFont typeface="Arial" panose="020B0604020202020204" pitchFamily="34" charset="0"/>
              <a:buNone/>
            </a:pPr>
            <a:r>
              <a:rPr lang="en-GB" dirty="0"/>
              <a:t>Overall, this enables a shift from reactive churn management to proactive retention.</a:t>
            </a:r>
          </a:p>
          <a:p>
            <a:endParaRPr lang="LID4096" dirty="0"/>
          </a:p>
        </p:txBody>
      </p:sp>
      <p:sp>
        <p:nvSpPr>
          <p:cNvPr id="4" name="Slide Number Placeholder 3"/>
          <p:cNvSpPr>
            <a:spLocks noGrp="1"/>
          </p:cNvSpPr>
          <p:nvPr>
            <p:ph type="sldNum" sz="quarter" idx="5"/>
          </p:nvPr>
        </p:nvSpPr>
        <p:spPr/>
        <p:txBody>
          <a:bodyPr/>
          <a:lstStyle/>
          <a:p>
            <a:fld id="{B8994CEA-F49E-48B8-AF73-93270BBBC39E}" type="slidenum">
              <a:rPr lang="LID4096" smtClean="0"/>
              <a:t>11</a:t>
            </a:fld>
            <a:endParaRPr lang="LID4096"/>
          </a:p>
        </p:txBody>
      </p:sp>
    </p:spTree>
    <p:extLst>
      <p:ext uri="{BB962C8B-B14F-4D97-AF65-F5344CB8AC3E}">
        <p14:creationId xmlns:p14="http://schemas.microsoft.com/office/powerpoint/2010/main" val="2093770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strategy focuses on optimizing growth by leveraging differences in regional performance.</a:t>
            </a:r>
          </a:p>
          <a:p>
            <a:pPr marL="171450" indent="-171450">
              <a:buFont typeface="Arial" panose="020B0604020202020204" pitchFamily="34" charset="0"/>
              <a:buChar char="•"/>
            </a:pPr>
            <a:r>
              <a:rPr lang="en-GB" dirty="0"/>
              <a:t>Mandalay acts as the primary growth driver, where successful acquisition and retention strategies can be scaled and used as a benchmark for other regions.</a:t>
            </a:r>
          </a:p>
          <a:p>
            <a:pPr marL="171450" indent="-171450">
              <a:buFont typeface="Arial" panose="020B0604020202020204" pitchFamily="34" charset="0"/>
              <a:buChar char="•"/>
            </a:pPr>
            <a:r>
              <a:rPr lang="en-GB" dirty="0"/>
              <a:t>Bago, Taunggyi, and Naypyitaw show stable but moderate performance, presenting opportunities to improve conversion and increase purchase frequency.</a:t>
            </a:r>
          </a:p>
          <a:p>
            <a:pPr marL="171450" indent="-171450">
              <a:buFont typeface="Arial" panose="020B0604020202020204" pitchFamily="34" charset="0"/>
              <a:buChar char="•"/>
            </a:pPr>
            <a:r>
              <a:rPr lang="en-GB" dirty="0"/>
              <a:t>Yangon underperforms despite having a customer base, indicating lower customer value and the need for targeted improvements in engagement and segmentation.</a:t>
            </a:r>
          </a:p>
          <a:p>
            <a:r>
              <a:rPr lang="en-GB" dirty="0"/>
              <a:t>Overall, regional performance differences are driven more by customer activity than spending, making customer growth and activation the key lever for revenue improvement.</a:t>
            </a:r>
          </a:p>
          <a:p>
            <a:endParaRPr lang="LID4096" dirty="0"/>
          </a:p>
        </p:txBody>
      </p:sp>
      <p:sp>
        <p:nvSpPr>
          <p:cNvPr id="4" name="Slide Number Placeholder 3"/>
          <p:cNvSpPr>
            <a:spLocks noGrp="1"/>
          </p:cNvSpPr>
          <p:nvPr>
            <p:ph type="sldNum" sz="quarter" idx="5"/>
          </p:nvPr>
        </p:nvSpPr>
        <p:spPr/>
        <p:txBody>
          <a:bodyPr/>
          <a:lstStyle/>
          <a:p>
            <a:fld id="{B8994CEA-F49E-48B8-AF73-93270BBBC39E}" type="slidenum">
              <a:rPr lang="LID4096" smtClean="0"/>
              <a:t>12</a:t>
            </a:fld>
            <a:endParaRPr lang="LID4096"/>
          </a:p>
        </p:txBody>
      </p:sp>
    </p:spTree>
    <p:extLst>
      <p:ext uri="{BB962C8B-B14F-4D97-AF65-F5344CB8AC3E}">
        <p14:creationId xmlns:p14="http://schemas.microsoft.com/office/powerpoint/2010/main" val="4227397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CEFA9-3097-28D1-2CEF-DD8CE3AF29A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LID4096"/>
          </a:p>
        </p:txBody>
      </p:sp>
      <p:sp>
        <p:nvSpPr>
          <p:cNvPr id="3" name="Subtitle 2">
            <a:extLst>
              <a:ext uri="{FF2B5EF4-FFF2-40B4-BE49-F238E27FC236}">
                <a16:creationId xmlns:a16="http://schemas.microsoft.com/office/drawing/2014/main" id="{6959C5B5-6714-C23B-5BA8-65B0A8FF4A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LID4096"/>
          </a:p>
        </p:txBody>
      </p:sp>
      <p:sp>
        <p:nvSpPr>
          <p:cNvPr id="4" name="Date Placeholder 3">
            <a:extLst>
              <a:ext uri="{FF2B5EF4-FFF2-40B4-BE49-F238E27FC236}">
                <a16:creationId xmlns:a16="http://schemas.microsoft.com/office/drawing/2014/main" id="{4FBA8FC6-0F1F-6A6D-A9DF-25007DE18B9F}"/>
              </a:ext>
            </a:extLst>
          </p:cNvPr>
          <p:cNvSpPr>
            <a:spLocks noGrp="1"/>
          </p:cNvSpPr>
          <p:nvPr>
            <p:ph type="dt" sz="half" idx="10"/>
          </p:nvPr>
        </p:nvSpPr>
        <p:spPr/>
        <p:txBody>
          <a:bodyPr/>
          <a:lstStyle/>
          <a:p>
            <a:fld id="{B6610C4B-2801-4350-9F8C-FF4557868F91}" type="datetimeFigureOut">
              <a:rPr lang="LID4096" smtClean="0"/>
              <a:t>04/07/2026</a:t>
            </a:fld>
            <a:endParaRPr lang="LID4096"/>
          </a:p>
        </p:txBody>
      </p:sp>
      <p:sp>
        <p:nvSpPr>
          <p:cNvPr id="5" name="Footer Placeholder 4">
            <a:extLst>
              <a:ext uri="{FF2B5EF4-FFF2-40B4-BE49-F238E27FC236}">
                <a16:creationId xmlns:a16="http://schemas.microsoft.com/office/drawing/2014/main" id="{5461CEC2-418F-73B0-C45F-73C83D9CC777}"/>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F5504B94-9733-3ED4-7877-7C3366F649C2}"/>
              </a:ext>
            </a:extLst>
          </p:cNvPr>
          <p:cNvSpPr>
            <a:spLocks noGrp="1"/>
          </p:cNvSpPr>
          <p:nvPr>
            <p:ph type="sldNum" sz="quarter" idx="12"/>
          </p:nvPr>
        </p:nvSpPr>
        <p:spPr/>
        <p:txBody>
          <a:bodyPr/>
          <a:lstStyle/>
          <a:p>
            <a:fld id="{5EAC4BA6-414C-4FEA-A38F-095A873C56B0}" type="slidenum">
              <a:rPr lang="LID4096" smtClean="0"/>
              <a:t>‹#›</a:t>
            </a:fld>
            <a:endParaRPr lang="LID4096"/>
          </a:p>
        </p:txBody>
      </p:sp>
    </p:spTree>
    <p:extLst>
      <p:ext uri="{BB962C8B-B14F-4D97-AF65-F5344CB8AC3E}">
        <p14:creationId xmlns:p14="http://schemas.microsoft.com/office/powerpoint/2010/main" val="3502786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EBC09-D5C3-B4F4-0FC3-5EBC2AB7425C}"/>
              </a:ext>
            </a:extLst>
          </p:cNvPr>
          <p:cNvSpPr>
            <a:spLocks noGrp="1"/>
          </p:cNvSpPr>
          <p:nvPr>
            <p:ph type="title"/>
          </p:nvPr>
        </p:nvSpPr>
        <p:spPr/>
        <p:txBody>
          <a:bodyPr/>
          <a:lstStyle/>
          <a:p>
            <a:r>
              <a:rPr lang="en-GB"/>
              <a:t>Click to edit Master title style</a:t>
            </a:r>
            <a:endParaRPr lang="LID4096"/>
          </a:p>
        </p:txBody>
      </p:sp>
      <p:sp>
        <p:nvSpPr>
          <p:cNvPr id="3" name="Content Placeholder 2">
            <a:extLst>
              <a:ext uri="{FF2B5EF4-FFF2-40B4-BE49-F238E27FC236}">
                <a16:creationId xmlns:a16="http://schemas.microsoft.com/office/drawing/2014/main" id="{AE333261-51E1-6969-DF4A-0CAFED26551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300D3998-8115-E0A8-1E01-D5534E99DE47}"/>
              </a:ext>
            </a:extLst>
          </p:cNvPr>
          <p:cNvSpPr>
            <a:spLocks noGrp="1"/>
          </p:cNvSpPr>
          <p:nvPr>
            <p:ph type="dt" sz="half" idx="10"/>
          </p:nvPr>
        </p:nvSpPr>
        <p:spPr/>
        <p:txBody>
          <a:bodyPr/>
          <a:lstStyle/>
          <a:p>
            <a:fld id="{B6610C4B-2801-4350-9F8C-FF4557868F91}" type="datetimeFigureOut">
              <a:rPr lang="LID4096" smtClean="0"/>
              <a:t>04/07/2026</a:t>
            </a:fld>
            <a:endParaRPr lang="LID4096"/>
          </a:p>
        </p:txBody>
      </p:sp>
      <p:sp>
        <p:nvSpPr>
          <p:cNvPr id="5" name="Footer Placeholder 4">
            <a:extLst>
              <a:ext uri="{FF2B5EF4-FFF2-40B4-BE49-F238E27FC236}">
                <a16:creationId xmlns:a16="http://schemas.microsoft.com/office/drawing/2014/main" id="{096618AC-45AC-59AD-DB84-9E26C94773EF}"/>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67836C9D-98CC-B501-98A5-2A2864214B6B}"/>
              </a:ext>
            </a:extLst>
          </p:cNvPr>
          <p:cNvSpPr>
            <a:spLocks noGrp="1"/>
          </p:cNvSpPr>
          <p:nvPr>
            <p:ph type="sldNum" sz="quarter" idx="12"/>
          </p:nvPr>
        </p:nvSpPr>
        <p:spPr/>
        <p:txBody>
          <a:bodyPr/>
          <a:lstStyle/>
          <a:p>
            <a:fld id="{5EAC4BA6-414C-4FEA-A38F-095A873C56B0}" type="slidenum">
              <a:rPr lang="LID4096" smtClean="0"/>
              <a:t>‹#›</a:t>
            </a:fld>
            <a:endParaRPr lang="LID4096"/>
          </a:p>
        </p:txBody>
      </p:sp>
    </p:spTree>
    <p:extLst>
      <p:ext uri="{BB962C8B-B14F-4D97-AF65-F5344CB8AC3E}">
        <p14:creationId xmlns:p14="http://schemas.microsoft.com/office/powerpoint/2010/main" val="2526412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6F34A-30B8-19B7-26A8-5C2140027D4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LID4096"/>
          </a:p>
        </p:txBody>
      </p:sp>
      <p:sp>
        <p:nvSpPr>
          <p:cNvPr id="3" name="Text Placeholder 2">
            <a:extLst>
              <a:ext uri="{FF2B5EF4-FFF2-40B4-BE49-F238E27FC236}">
                <a16:creationId xmlns:a16="http://schemas.microsoft.com/office/drawing/2014/main" id="{5FC17D4F-5983-AE3F-B3CE-CC3F8F250B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1C970E2-573F-3B8C-A64F-0AB0A086B85B}"/>
              </a:ext>
            </a:extLst>
          </p:cNvPr>
          <p:cNvSpPr>
            <a:spLocks noGrp="1"/>
          </p:cNvSpPr>
          <p:nvPr>
            <p:ph type="dt" sz="half" idx="10"/>
          </p:nvPr>
        </p:nvSpPr>
        <p:spPr/>
        <p:txBody>
          <a:bodyPr/>
          <a:lstStyle/>
          <a:p>
            <a:fld id="{B6610C4B-2801-4350-9F8C-FF4557868F91}" type="datetimeFigureOut">
              <a:rPr lang="LID4096" smtClean="0"/>
              <a:t>04/07/2026</a:t>
            </a:fld>
            <a:endParaRPr lang="LID4096"/>
          </a:p>
        </p:txBody>
      </p:sp>
      <p:sp>
        <p:nvSpPr>
          <p:cNvPr id="5" name="Footer Placeholder 4">
            <a:extLst>
              <a:ext uri="{FF2B5EF4-FFF2-40B4-BE49-F238E27FC236}">
                <a16:creationId xmlns:a16="http://schemas.microsoft.com/office/drawing/2014/main" id="{5EC673AB-BF2E-2669-FE35-3262B78903DF}"/>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55747ADF-4205-FD93-AA71-C1F8154F877C}"/>
              </a:ext>
            </a:extLst>
          </p:cNvPr>
          <p:cNvSpPr>
            <a:spLocks noGrp="1"/>
          </p:cNvSpPr>
          <p:nvPr>
            <p:ph type="sldNum" sz="quarter" idx="12"/>
          </p:nvPr>
        </p:nvSpPr>
        <p:spPr/>
        <p:txBody>
          <a:bodyPr/>
          <a:lstStyle/>
          <a:p>
            <a:fld id="{5EAC4BA6-414C-4FEA-A38F-095A873C56B0}" type="slidenum">
              <a:rPr lang="LID4096" smtClean="0"/>
              <a:t>‹#›</a:t>
            </a:fld>
            <a:endParaRPr lang="LID4096"/>
          </a:p>
        </p:txBody>
      </p:sp>
    </p:spTree>
    <p:extLst>
      <p:ext uri="{BB962C8B-B14F-4D97-AF65-F5344CB8AC3E}">
        <p14:creationId xmlns:p14="http://schemas.microsoft.com/office/powerpoint/2010/main" val="328054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CCAD-0171-E582-65CB-29AF7546BB72}"/>
              </a:ext>
            </a:extLst>
          </p:cNvPr>
          <p:cNvSpPr>
            <a:spLocks noGrp="1"/>
          </p:cNvSpPr>
          <p:nvPr>
            <p:ph type="title"/>
          </p:nvPr>
        </p:nvSpPr>
        <p:spPr/>
        <p:txBody>
          <a:bodyPr/>
          <a:lstStyle/>
          <a:p>
            <a:r>
              <a:rPr lang="en-GB"/>
              <a:t>Click to edit Master title style</a:t>
            </a:r>
            <a:endParaRPr lang="LID4096"/>
          </a:p>
        </p:txBody>
      </p:sp>
      <p:sp>
        <p:nvSpPr>
          <p:cNvPr id="3" name="Content Placeholder 2">
            <a:extLst>
              <a:ext uri="{FF2B5EF4-FFF2-40B4-BE49-F238E27FC236}">
                <a16:creationId xmlns:a16="http://schemas.microsoft.com/office/drawing/2014/main" id="{37F59E7C-B60F-29BC-C65C-C7A9D89D82F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Content Placeholder 3">
            <a:extLst>
              <a:ext uri="{FF2B5EF4-FFF2-40B4-BE49-F238E27FC236}">
                <a16:creationId xmlns:a16="http://schemas.microsoft.com/office/drawing/2014/main" id="{7AB20E33-43D6-744C-2790-B6DB2A76795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5" name="Date Placeholder 4">
            <a:extLst>
              <a:ext uri="{FF2B5EF4-FFF2-40B4-BE49-F238E27FC236}">
                <a16:creationId xmlns:a16="http://schemas.microsoft.com/office/drawing/2014/main" id="{CA733677-C816-03E2-71CE-1C50CEBD54C2}"/>
              </a:ext>
            </a:extLst>
          </p:cNvPr>
          <p:cNvSpPr>
            <a:spLocks noGrp="1"/>
          </p:cNvSpPr>
          <p:nvPr>
            <p:ph type="dt" sz="half" idx="10"/>
          </p:nvPr>
        </p:nvSpPr>
        <p:spPr/>
        <p:txBody>
          <a:bodyPr/>
          <a:lstStyle/>
          <a:p>
            <a:fld id="{B6610C4B-2801-4350-9F8C-FF4557868F91}" type="datetimeFigureOut">
              <a:rPr lang="LID4096" smtClean="0"/>
              <a:t>04/07/2026</a:t>
            </a:fld>
            <a:endParaRPr lang="LID4096"/>
          </a:p>
        </p:txBody>
      </p:sp>
      <p:sp>
        <p:nvSpPr>
          <p:cNvPr id="6" name="Footer Placeholder 5">
            <a:extLst>
              <a:ext uri="{FF2B5EF4-FFF2-40B4-BE49-F238E27FC236}">
                <a16:creationId xmlns:a16="http://schemas.microsoft.com/office/drawing/2014/main" id="{90C7D83D-52EC-4875-A531-E1C53EC29BE5}"/>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CC0A8CB4-2242-10A0-B034-611128FA0BDA}"/>
              </a:ext>
            </a:extLst>
          </p:cNvPr>
          <p:cNvSpPr>
            <a:spLocks noGrp="1"/>
          </p:cNvSpPr>
          <p:nvPr>
            <p:ph type="sldNum" sz="quarter" idx="12"/>
          </p:nvPr>
        </p:nvSpPr>
        <p:spPr/>
        <p:txBody>
          <a:bodyPr/>
          <a:lstStyle/>
          <a:p>
            <a:fld id="{5EAC4BA6-414C-4FEA-A38F-095A873C56B0}" type="slidenum">
              <a:rPr lang="LID4096" smtClean="0"/>
              <a:t>‹#›</a:t>
            </a:fld>
            <a:endParaRPr lang="LID4096"/>
          </a:p>
        </p:txBody>
      </p:sp>
    </p:spTree>
    <p:extLst>
      <p:ext uri="{BB962C8B-B14F-4D97-AF65-F5344CB8AC3E}">
        <p14:creationId xmlns:p14="http://schemas.microsoft.com/office/powerpoint/2010/main" val="352523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525DC-B995-2AAB-1418-5BFCFD6BEA65}"/>
              </a:ext>
            </a:extLst>
          </p:cNvPr>
          <p:cNvSpPr>
            <a:spLocks noGrp="1"/>
          </p:cNvSpPr>
          <p:nvPr>
            <p:ph type="title"/>
          </p:nvPr>
        </p:nvSpPr>
        <p:spPr>
          <a:xfrm>
            <a:off x="839788" y="365125"/>
            <a:ext cx="10515600" cy="1325563"/>
          </a:xfrm>
        </p:spPr>
        <p:txBody>
          <a:bodyPr/>
          <a:lstStyle/>
          <a:p>
            <a:r>
              <a:rPr lang="en-GB"/>
              <a:t>Click to edit Master title style</a:t>
            </a:r>
            <a:endParaRPr lang="LID4096"/>
          </a:p>
        </p:txBody>
      </p:sp>
      <p:sp>
        <p:nvSpPr>
          <p:cNvPr id="3" name="Text Placeholder 2">
            <a:extLst>
              <a:ext uri="{FF2B5EF4-FFF2-40B4-BE49-F238E27FC236}">
                <a16:creationId xmlns:a16="http://schemas.microsoft.com/office/drawing/2014/main" id="{6E7A6304-F9D5-4C18-4152-067F200482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8979F23-6A2C-9C6F-1096-B39A0E3C77E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5" name="Text Placeholder 4">
            <a:extLst>
              <a:ext uri="{FF2B5EF4-FFF2-40B4-BE49-F238E27FC236}">
                <a16:creationId xmlns:a16="http://schemas.microsoft.com/office/drawing/2014/main" id="{ECEF628E-A8AC-6169-30AC-29662D00DD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7963284-82CD-79EB-6813-416F651362C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7" name="Date Placeholder 6">
            <a:extLst>
              <a:ext uri="{FF2B5EF4-FFF2-40B4-BE49-F238E27FC236}">
                <a16:creationId xmlns:a16="http://schemas.microsoft.com/office/drawing/2014/main" id="{E899E4CB-2024-64A5-D88B-A4960D66F372}"/>
              </a:ext>
            </a:extLst>
          </p:cNvPr>
          <p:cNvSpPr>
            <a:spLocks noGrp="1"/>
          </p:cNvSpPr>
          <p:nvPr>
            <p:ph type="dt" sz="half" idx="10"/>
          </p:nvPr>
        </p:nvSpPr>
        <p:spPr/>
        <p:txBody>
          <a:bodyPr/>
          <a:lstStyle/>
          <a:p>
            <a:fld id="{B6610C4B-2801-4350-9F8C-FF4557868F91}" type="datetimeFigureOut">
              <a:rPr lang="LID4096" smtClean="0"/>
              <a:t>04/07/2026</a:t>
            </a:fld>
            <a:endParaRPr lang="LID4096"/>
          </a:p>
        </p:txBody>
      </p:sp>
      <p:sp>
        <p:nvSpPr>
          <p:cNvPr id="8" name="Footer Placeholder 7">
            <a:extLst>
              <a:ext uri="{FF2B5EF4-FFF2-40B4-BE49-F238E27FC236}">
                <a16:creationId xmlns:a16="http://schemas.microsoft.com/office/drawing/2014/main" id="{F8191EEB-F089-2D5E-D1EE-D2AF68E0C2BF}"/>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E1926082-227B-29FE-6F7A-D1450651D005}"/>
              </a:ext>
            </a:extLst>
          </p:cNvPr>
          <p:cNvSpPr>
            <a:spLocks noGrp="1"/>
          </p:cNvSpPr>
          <p:nvPr>
            <p:ph type="sldNum" sz="quarter" idx="12"/>
          </p:nvPr>
        </p:nvSpPr>
        <p:spPr/>
        <p:txBody>
          <a:bodyPr/>
          <a:lstStyle/>
          <a:p>
            <a:fld id="{5EAC4BA6-414C-4FEA-A38F-095A873C56B0}" type="slidenum">
              <a:rPr lang="LID4096" smtClean="0"/>
              <a:t>‹#›</a:t>
            </a:fld>
            <a:endParaRPr lang="LID4096"/>
          </a:p>
        </p:txBody>
      </p:sp>
    </p:spTree>
    <p:extLst>
      <p:ext uri="{BB962C8B-B14F-4D97-AF65-F5344CB8AC3E}">
        <p14:creationId xmlns:p14="http://schemas.microsoft.com/office/powerpoint/2010/main" val="1387615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3BF7F-9121-8AB7-0349-8BED9C951818}"/>
              </a:ext>
            </a:extLst>
          </p:cNvPr>
          <p:cNvSpPr>
            <a:spLocks noGrp="1"/>
          </p:cNvSpPr>
          <p:nvPr>
            <p:ph type="title"/>
          </p:nvPr>
        </p:nvSpPr>
        <p:spPr/>
        <p:txBody>
          <a:bodyPr/>
          <a:lstStyle/>
          <a:p>
            <a:r>
              <a:rPr lang="en-GB"/>
              <a:t>Click to edit Master title style</a:t>
            </a:r>
            <a:endParaRPr lang="LID4096"/>
          </a:p>
        </p:txBody>
      </p:sp>
      <p:sp>
        <p:nvSpPr>
          <p:cNvPr id="3" name="Date Placeholder 2">
            <a:extLst>
              <a:ext uri="{FF2B5EF4-FFF2-40B4-BE49-F238E27FC236}">
                <a16:creationId xmlns:a16="http://schemas.microsoft.com/office/drawing/2014/main" id="{A6546BEB-185D-9ED8-1590-8E92FA485AEC}"/>
              </a:ext>
            </a:extLst>
          </p:cNvPr>
          <p:cNvSpPr>
            <a:spLocks noGrp="1"/>
          </p:cNvSpPr>
          <p:nvPr>
            <p:ph type="dt" sz="half" idx="10"/>
          </p:nvPr>
        </p:nvSpPr>
        <p:spPr/>
        <p:txBody>
          <a:bodyPr/>
          <a:lstStyle/>
          <a:p>
            <a:fld id="{B6610C4B-2801-4350-9F8C-FF4557868F91}" type="datetimeFigureOut">
              <a:rPr lang="LID4096" smtClean="0"/>
              <a:t>04/07/2026</a:t>
            </a:fld>
            <a:endParaRPr lang="LID4096"/>
          </a:p>
        </p:txBody>
      </p:sp>
      <p:sp>
        <p:nvSpPr>
          <p:cNvPr id="4" name="Footer Placeholder 3">
            <a:extLst>
              <a:ext uri="{FF2B5EF4-FFF2-40B4-BE49-F238E27FC236}">
                <a16:creationId xmlns:a16="http://schemas.microsoft.com/office/drawing/2014/main" id="{1DE0594A-C7B1-7690-025A-ECB8016D4E49}"/>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72CA0921-5E70-200C-E2F5-59B44E44FCEB}"/>
              </a:ext>
            </a:extLst>
          </p:cNvPr>
          <p:cNvSpPr>
            <a:spLocks noGrp="1"/>
          </p:cNvSpPr>
          <p:nvPr>
            <p:ph type="sldNum" sz="quarter" idx="12"/>
          </p:nvPr>
        </p:nvSpPr>
        <p:spPr/>
        <p:txBody>
          <a:bodyPr/>
          <a:lstStyle/>
          <a:p>
            <a:fld id="{5EAC4BA6-414C-4FEA-A38F-095A873C56B0}" type="slidenum">
              <a:rPr lang="LID4096" smtClean="0"/>
              <a:t>‹#›</a:t>
            </a:fld>
            <a:endParaRPr lang="LID4096"/>
          </a:p>
        </p:txBody>
      </p:sp>
    </p:spTree>
    <p:extLst>
      <p:ext uri="{BB962C8B-B14F-4D97-AF65-F5344CB8AC3E}">
        <p14:creationId xmlns:p14="http://schemas.microsoft.com/office/powerpoint/2010/main" val="3012346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8A9DF8-1FE3-22CF-4489-5CFC2143E8C8}"/>
              </a:ext>
            </a:extLst>
          </p:cNvPr>
          <p:cNvSpPr>
            <a:spLocks noGrp="1"/>
          </p:cNvSpPr>
          <p:nvPr>
            <p:ph type="dt" sz="half" idx="10"/>
          </p:nvPr>
        </p:nvSpPr>
        <p:spPr/>
        <p:txBody>
          <a:bodyPr/>
          <a:lstStyle/>
          <a:p>
            <a:fld id="{B6610C4B-2801-4350-9F8C-FF4557868F91}" type="datetimeFigureOut">
              <a:rPr lang="LID4096" smtClean="0"/>
              <a:t>04/07/2026</a:t>
            </a:fld>
            <a:endParaRPr lang="LID4096"/>
          </a:p>
        </p:txBody>
      </p:sp>
      <p:sp>
        <p:nvSpPr>
          <p:cNvPr id="3" name="Footer Placeholder 2">
            <a:extLst>
              <a:ext uri="{FF2B5EF4-FFF2-40B4-BE49-F238E27FC236}">
                <a16:creationId xmlns:a16="http://schemas.microsoft.com/office/drawing/2014/main" id="{B22D6F05-245C-720D-CD91-F8494644A82D}"/>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20023040-37B0-A35D-9DCF-EEBF2A1C4589}"/>
              </a:ext>
            </a:extLst>
          </p:cNvPr>
          <p:cNvSpPr>
            <a:spLocks noGrp="1"/>
          </p:cNvSpPr>
          <p:nvPr>
            <p:ph type="sldNum" sz="quarter" idx="12"/>
          </p:nvPr>
        </p:nvSpPr>
        <p:spPr/>
        <p:txBody>
          <a:bodyPr/>
          <a:lstStyle/>
          <a:p>
            <a:fld id="{5EAC4BA6-414C-4FEA-A38F-095A873C56B0}" type="slidenum">
              <a:rPr lang="LID4096" smtClean="0"/>
              <a:t>‹#›</a:t>
            </a:fld>
            <a:endParaRPr lang="LID4096"/>
          </a:p>
        </p:txBody>
      </p:sp>
    </p:spTree>
    <p:extLst>
      <p:ext uri="{BB962C8B-B14F-4D97-AF65-F5344CB8AC3E}">
        <p14:creationId xmlns:p14="http://schemas.microsoft.com/office/powerpoint/2010/main" val="3282818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007F1-EBC7-EAC1-0DA5-BE0056B03A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LID4096"/>
          </a:p>
        </p:txBody>
      </p:sp>
      <p:sp>
        <p:nvSpPr>
          <p:cNvPr id="3" name="Content Placeholder 2">
            <a:extLst>
              <a:ext uri="{FF2B5EF4-FFF2-40B4-BE49-F238E27FC236}">
                <a16:creationId xmlns:a16="http://schemas.microsoft.com/office/drawing/2014/main" id="{37E1ECE9-F21F-11B4-5668-430F5F3C3F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Text Placeholder 3">
            <a:extLst>
              <a:ext uri="{FF2B5EF4-FFF2-40B4-BE49-F238E27FC236}">
                <a16:creationId xmlns:a16="http://schemas.microsoft.com/office/drawing/2014/main" id="{1ED116EA-0654-BCDB-4C9B-7D6317BE2E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1E1B84D-B972-3A66-B004-76C1B0F65F41}"/>
              </a:ext>
            </a:extLst>
          </p:cNvPr>
          <p:cNvSpPr>
            <a:spLocks noGrp="1"/>
          </p:cNvSpPr>
          <p:nvPr>
            <p:ph type="dt" sz="half" idx="10"/>
          </p:nvPr>
        </p:nvSpPr>
        <p:spPr/>
        <p:txBody>
          <a:bodyPr/>
          <a:lstStyle/>
          <a:p>
            <a:fld id="{B6610C4B-2801-4350-9F8C-FF4557868F91}" type="datetimeFigureOut">
              <a:rPr lang="LID4096" smtClean="0"/>
              <a:t>04/07/2026</a:t>
            </a:fld>
            <a:endParaRPr lang="LID4096"/>
          </a:p>
        </p:txBody>
      </p:sp>
      <p:sp>
        <p:nvSpPr>
          <p:cNvPr id="6" name="Footer Placeholder 5">
            <a:extLst>
              <a:ext uri="{FF2B5EF4-FFF2-40B4-BE49-F238E27FC236}">
                <a16:creationId xmlns:a16="http://schemas.microsoft.com/office/drawing/2014/main" id="{BBEF39C6-3BC6-A815-3163-6E182194490F}"/>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53201513-27D0-048F-F5AE-86A1400E8240}"/>
              </a:ext>
            </a:extLst>
          </p:cNvPr>
          <p:cNvSpPr>
            <a:spLocks noGrp="1"/>
          </p:cNvSpPr>
          <p:nvPr>
            <p:ph type="sldNum" sz="quarter" idx="12"/>
          </p:nvPr>
        </p:nvSpPr>
        <p:spPr/>
        <p:txBody>
          <a:bodyPr/>
          <a:lstStyle/>
          <a:p>
            <a:fld id="{5EAC4BA6-414C-4FEA-A38F-095A873C56B0}" type="slidenum">
              <a:rPr lang="LID4096" smtClean="0"/>
              <a:t>‹#›</a:t>
            </a:fld>
            <a:endParaRPr lang="LID4096"/>
          </a:p>
        </p:txBody>
      </p:sp>
    </p:spTree>
    <p:extLst>
      <p:ext uri="{BB962C8B-B14F-4D97-AF65-F5344CB8AC3E}">
        <p14:creationId xmlns:p14="http://schemas.microsoft.com/office/powerpoint/2010/main" val="2174688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9421B-E325-2195-9FD9-79204E95B50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LID4096"/>
          </a:p>
        </p:txBody>
      </p:sp>
      <p:sp>
        <p:nvSpPr>
          <p:cNvPr id="3" name="Picture Placeholder 2">
            <a:extLst>
              <a:ext uri="{FF2B5EF4-FFF2-40B4-BE49-F238E27FC236}">
                <a16:creationId xmlns:a16="http://schemas.microsoft.com/office/drawing/2014/main" id="{28F06CEE-358F-ADB3-EF78-359B318234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8790C65C-6FD4-8028-4B88-4BBE822EEF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A703006-E197-B74D-A04A-1081E8593412}"/>
              </a:ext>
            </a:extLst>
          </p:cNvPr>
          <p:cNvSpPr>
            <a:spLocks noGrp="1"/>
          </p:cNvSpPr>
          <p:nvPr>
            <p:ph type="dt" sz="half" idx="10"/>
          </p:nvPr>
        </p:nvSpPr>
        <p:spPr/>
        <p:txBody>
          <a:bodyPr/>
          <a:lstStyle/>
          <a:p>
            <a:fld id="{B6610C4B-2801-4350-9F8C-FF4557868F91}" type="datetimeFigureOut">
              <a:rPr lang="LID4096" smtClean="0"/>
              <a:t>04/07/2026</a:t>
            </a:fld>
            <a:endParaRPr lang="LID4096"/>
          </a:p>
        </p:txBody>
      </p:sp>
      <p:sp>
        <p:nvSpPr>
          <p:cNvPr id="6" name="Footer Placeholder 5">
            <a:extLst>
              <a:ext uri="{FF2B5EF4-FFF2-40B4-BE49-F238E27FC236}">
                <a16:creationId xmlns:a16="http://schemas.microsoft.com/office/drawing/2014/main" id="{1DF2F190-668B-E284-9828-7FB5B672712E}"/>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542A9DA8-80A5-16E2-1ADB-6F63D591C169}"/>
              </a:ext>
            </a:extLst>
          </p:cNvPr>
          <p:cNvSpPr>
            <a:spLocks noGrp="1"/>
          </p:cNvSpPr>
          <p:nvPr>
            <p:ph type="sldNum" sz="quarter" idx="12"/>
          </p:nvPr>
        </p:nvSpPr>
        <p:spPr/>
        <p:txBody>
          <a:bodyPr/>
          <a:lstStyle/>
          <a:p>
            <a:fld id="{5EAC4BA6-414C-4FEA-A38F-095A873C56B0}" type="slidenum">
              <a:rPr lang="LID4096" smtClean="0"/>
              <a:t>‹#›</a:t>
            </a:fld>
            <a:endParaRPr lang="LID4096"/>
          </a:p>
        </p:txBody>
      </p:sp>
    </p:spTree>
    <p:extLst>
      <p:ext uri="{BB962C8B-B14F-4D97-AF65-F5344CB8AC3E}">
        <p14:creationId xmlns:p14="http://schemas.microsoft.com/office/powerpoint/2010/main" val="3973330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41124-92E1-743D-7961-222D4EEAFE9C}"/>
              </a:ext>
            </a:extLst>
          </p:cNvPr>
          <p:cNvSpPr>
            <a:spLocks noGrp="1"/>
          </p:cNvSpPr>
          <p:nvPr>
            <p:ph type="title"/>
          </p:nvPr>
        </p:nvSpPr>
        <p:spPr/>
        <p:txBody>
          <a:bodyPr/>
          <a:lstStyle/>
          <a:p>
            <a:r>
              <a:rPr lang="en-GB"/>
              <a:t>Click to edit Master title style</a:t>
            </a:r>
            <a:endParaRPr lang="LID4096"/>
          </a:p>
        </p:txBody>
      </p:sp>
      <p:sp>
        <p:nvSpPr>
          <p:cNvPr id="3" name="Vertical Text Placeholder 2">
            <a:extLst>
              <a:ext uri="{FF2B5EF4-FFF2-40B4-BE49-F238E27FC236}">
                <a16:creationId xmlns:a16="http://schemas.microsoft.com/office/drawing/2014/main" id="{D0CEB8AE-FD36-2A7D-AA71-FE29849E9B3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1D951713-A4DA-6D54-CD0F-27CB0396C030}"/>
              </a:ext>
            </a:extLst>
          </p:cNvPr>
          <p:cNvSpPr>
            <a:spLocks noGrp="1"/>
          </p:cNvSpPr>
          <p:nvPr>
            <p:ph type="dt" sz="half" idx="10"/>
          </p:nvPr>
        </p:nvSpPr>
        <p:spPr/>
        <p:txBody>
          <a:bodyPr/>
          <a:lstStyle/>
          <a:p>
            <a:fld id="{B6610C4B-2801-4350-9F8C-FF4557868F91}" type="datetimeFigureOut">
              <a:rPr lang="LID4096" smtClean="0"/>
              <a:t>04/07/2026</a:t>
            </a:fld>
            <a:endParaRPr lang="LID4096"/>
          </a:p>
        </p:txBody>
      </p:sp>
      <p:sp>
        <p:nvSpPr>
          <p:cNvPr id="5" name="Footer Placeholder 4">
            <a:extLst>
              <a:ext uri="{FF2B5EF4-FFF2-40B4-BE49-F238E27FC236}">
                <a16:creationId xmlns:a16="http://schemas.microsoft.com/office/drawing/2014/main" id="{DE3CB047-729D-F597-5DE8-7905F4D111AE}"/>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969E4081-93E8-A9D5-0C65-12C000586402}"/>
              </a:ext>
            </a:extLst>
          </p:cNvPr>
          <p:cNvSpPr>
            <a:spLocks noGrp="1"/>
          </p:cNvSpPr>
          <p:nvPr>
            <p:ph type="sldNum" sz="quarter" idx="12"/>
          </p:nvPr>
        </p:nvSpPr>
        <p:spPr/>
        <p:txBody>
          <a:bodyPr/>
          <a:lstStyle/>
          <a:p>
            <a:fld id="{5EAC4BA6-414C-4FEA-A38F-095A873C56B0}" type="slidenum">
              <a:rPr lang="LID4096" smtClean="0"/>
              <a:t>‹#›</a:t>
            </a:fld>
            <a:endParaRPr lang="LID4096"/>
          </a:p>
        </p:txBody>
      </p:sp>
    </p:spTree>
    <p:extLst>
      <p:ext uri="{BB962C8B-B14F-4D97-AF65-F5344CB8AC3E}">
        <p14:creationId xmlns:p14="http://schemas.microsoft.com/office/powerpoint/2010/main" val="2523277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A2B8EA-2C78-8A22-3181-31C813B2EAC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LID4096"/>
          </a:p>
        </p:txBody>
      </p:sp>
      <p:sp>
        <p:nvSpPr>
          <p:cNvPr id="3" name="Vertical Text Placeholder 2">
            <a:extLst>
              <a:ext uri="{FF2B5EF4-FFF2-40B4-BE49-F238E27FC236}">
                <a16:creationId xmlns:a16="http://schemas.microsoft.com/office/drawing/2014/main" id="{6DD857ED-5EB9-4E64-7F43-CF13433CFE3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C634F2D1-A168-801C-86FE-62F7A10A0737}"/>
              </a:ext>
            </a:extLst>
          </p:cNvPr>
          <p:cNvSpPr>
            <a:spLocks noGrp="1"/>
          </p:cNvSpPr>
          <p:nvPr>
            <p:ph type="dt" sz="half" idx="10"/>
          </p:nvPr>
        </p:nvSpPr>
        <p:spPr/>
        <p:txBody>
          <a:bodyPr/>
          <a:lstStyle/>
          <a:p>
            <a:fld id="{B6610C4B-2801-4350-9F8C-FF4557868F91}" type="datetimeFigureOut">
              <a:rPr lang="LID4096" smtClean="0"/>
              <a:t>04/07/2026</a:t>
            </a:fld>
            <a:endParaRPr lang="LID4096"/>
          </a:p>
        </p:txBody>
      </p:sp>
      <p:sp>
        <p:nvSpPr>
          <p:cNvPr id="5" name="Footer Placeholder 4">
            <a:extLst>
              <a:ext uri="{FF2B5EF4-FFF2-40B4-BE49-F238E27FC236}">
                <a16:creationId xmlns:a16="http://schemas.microsoft.com/office/drawing/2014/main" id="{6A48225A-2C5B-2C73-177C-8261FBC508BA}"/>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FCC3D4B3-FAB1-C49D-57D3-AF3C293A1FE0}"/>
              </a:ext>
            </a:extLst>
          </p:cNvPr>
          <p:cNvSpPr>
            <a:spLocks noGrp="1"/>
          </p:cNvSpPr>
          <p:nvPr>
            <p:ph type="sldNum" sz="quarter" idx="12"/>
          </p:nvPr>
        </p:nvSpPr>
        <p:spPr/>
        <p:txBody>
          <a:bodyPr/>
          <a:lstStyle/>
          <a:p>
            <a:fld id="{5EAC4BA6-414C-4FEA-A38F-095A873C56B0}" type="slidenum">
              <a:rPr lang="LID4096" smtClean="0"/>
              <a:t>‹#›</a:t>
            </a:fld>
            <a:endParaRPr lang="LID4096"/>
          </a:p>
        </p:txBody>
      </p:sp>
    </p:spTree>
    <p:extLst>
      <p:ext uri="{BB962C8B-B14F-4D97-AF65-F5344CB8AC3E}">
        <p14:creationId xmlns:p14="http://schemas.microsoft.com/office/powerpoint/2010/main" val="163462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D13DA4-0396-6334-4829-3C63FC8A32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LID4096"/>
          </a:p>
        </p:txBody>
      </p:sp>
      <p:sp>
        <p:nvSpPr>
          <p:cNvPr id="3" name="Text Placeholder 2">
            <a:extLst>
              <a:ext uri="{FF2B5EF4-FFF2-40B4-BE49-F238E27FC236}">
                <a16:creationId xmlns:a16="http://schemas.microsoft.com/office/drawing/2014/main" id="{58839605-8B1F-CF1B-45EC-91C9FDE65A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A50F14ED-364B-01B8-A01A-D8DDAC6B8C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610C4B-2801-4350-9F8C-FF4557868F91}" type="datetimeFigureOut">
              <a:rPr lang="LID4096" smtClean="0"/>
              <a:t>04/07/2026</a:t>
            </a:fld>
            <a:endParaRPr lang="LID4096"/>
          </a:p>
        </p:txBody>
      </p:sp>
      <p:sp>
        <p:nvSpPr>
          <p:cNvPr id="5" name="Footer Placeholder 4">
            <a:extLst>
              <a:ext uri="{FF2B5EF4-FFF2-40B4-BE49-F238E27FC236}">
                <a16:creationId xmlns:a16="http://schemas.microsoft.com/office/drawing/2014/main" id="{569732CC-A861-6EA2-ECB3-BB4C6FE2F2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875E74D8-50AA-C8F0-1B5C-A656DFAEDC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AC4BA6-414C-4FEA-A38F-095A873C56B0}" type="slidenum">
              <a:rPr lang="LID4096" smtClean="0"/>
              <a:t>‹#›</a:t>
            </a:fld>
            <a:endParaRPr lang="LID4096"/>
          </a:p>
        </p:txBody>
      </p:sp>
    </p:spTree>
    <p:extLst>
      <p:ext uri="{BB962C8B-B14F-4D97-AF65-F5344CB8AC3E}">
        <p14:creationId xmlns:p14="http://schemas.microsoft.com/office/powerpoint/2010/main" val="2787984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C3884-D3DF-17BD-ABE7-E11B631E5900}"/>
              </a:ext>
            </a:extLst>
          </p:cNvPr>
          <p:cNvSpPr>
            <a:spLocks noGrp="1"/>
          </p:cNvSpPr>
          <p:nvPr>
            <p:ph type="ctrTitle"/>
          </p:nvPr>
        </p:nvSpPr>
        <p:spPr>
          <a:xfrm>
            <a:off x="1491982" y="1322148"/>
            <a:ext cx="9438555" cy="2387600"/>
          </a:xfrm>
        </p:spPr>
        <p:txBody>
          <a:bodyPr/>
          <a:lstStyle/>
          <a:p>
            <a:r>
              <a:rPr lang="en-GB" dirty="0"/>
              <a:t>Customer Retention &amp; Revenue Optimization</a:t>
            </a:r>
            <a:endParaRPr lang="LID4096" dirty="0"/>
          </a:p>
        </p:txBody>
      </p:sp>
      <p:sp>
        <p:nvSpPr>
          <p:cNvPr id="3" name="Subtitle 2">
            <a:extLst>
              <a:ext uri="{FF2B5EF4-FFF2-40B4-BE49-F238E27FC236}">
                <a16:creationId xmlns:a16="http://schemas.microsoft.com/office/drawing/2014/main" id="{D04A1172-FFF9-EBB9-959C-B485B90E5DDC}"/>
              </a:ext>
            </a:extLst>
          </p:cNvPr>
          <p:cNvSpPr>
            <a:spLocks noGrp="1"/>
          </p:cNvSpPr>
          <p:nvPr>
            <p:ph type="subTitle" idx="1"/>
          </p:nvPr>
        </p:nvSpPr>
        <p:spPr>
          <a:xfrm>
            <a:off x="1639259" y="3842018"/>
            <a:ext cx="9144000" cy="399570"/>
          </a:xfrm>
        </p:spPr>
        <p:txBody>
          <a:bodyPr>
            <a:normAutofit lnSpcReduction="10000"/>
          </a:bodyPr>
          <a:lstStyle/>
          <a:p>
            <a:r>
              <a:rPr lang="en-GB" dirty="0"/>
              <a:t>RFM Segmentation &amp; Customer Lifecycle Analysis</a:t>
            </a:r>
          </a:p>
        </p:txBody>
      </p:sp>
      <p:sp>
        <p:nvSpPr>
          <p:cNvPr id="6" name="TextBox 5">
            <a:extLst>
              <a:ext uri="{FF2B5EF4-FFF2-40B4-BE49-F238E27FC236}">
                <a16:creationId xmlns:a16="http://schemas.microsoft.com/office/drawing/2014/main" id="{760B7547-913D-56E6-EA4D-159683BE7AE8}"/>
              </a:ext>
            </a:extLst>
          </p:cNvPr>
          <p:cNvSpPr txBox="1"/>
          <p:nvPr/>
        </p:nvSpPr>
        <p:spPr>
          <a:xfrm>
            <a:off x="4731443" y="5986297"/>
            <a:ext cx="2729114" cy="400110"/>
          </a:xfrm>
          <a:prstGeom prst="rect">
            <a:avLst/>
          </a:prstGeom>
          <a:noFill/>
        </p:spPr>
        <p:txBody>
          <a:bodyPr wrap="square" rtlCol="0">
            <a:spAutoFit/>
          </a:bodyPr>
          <a:lstStyle/>
          <a:p>
            <a:r>
              <a:rPr lang="en-GB" sz="2000" dirty="0"/>
              <a:t>Karolina </a:t>
            </a:r>
            <a:r>
              <a:rPr lang="en-GB" sz="2000" dirty="0" err="1"/>
              <a:t>Varkulevi</a:t>
            </a:r>
            <a:r>
              <a:rPr lang="lt-LT" sz="2000" dirty="0"/>
              <a:t>čiūtė</a:t>
            </a:r>
            <a:endParaRPr lang="en-GB" sz="2000" dirty="0"/>
          </a:p>
        </p:txBody>
      </p:sp>
      <p:pic>
        <p:nvPicPr>
          <p:cNvPr id="8" name="Picture 7">
            <a:extLst>
              <a:ext uri="{FF2B5EF4-FFF2-40B4-BE49-F238E27FC236}">
                <a16:creationId xmlns:a16="http://schemas.microsoft.com/office/drawing/2014/main" id="{8F0BA520-5C22-54F3-A0C9-F734FD54FF21}"/>
              </a:ext>
            </a:extLst>
          </p:cNvPr>
          <p:cNvPicPr>
            <a:picLocks noChangeAspect="1"/>
          </p:cNvPicPr>
          <p:nvPr/>
        </p:nvPicPr>
        <p:blipFill>
          <a:blip r:embed="rId3">
            <a:extLst>
              <a:ext uri="{28A0092B-C50C-407E-A947-70E740481C1C}">
                <a14:useLocalDpi xmlns:a14="http://schemas.microsoft.com/office/drawing/2010/main" val="0"/>
              </a:ext>
            </a:extLst>
          </a:blip>
          <a:srcRect l="19333" t="28294" r="15796" b="28424"/>
          <a:stretch>
            <a:fillRect/>
          </a:stretch>
        </p:blipFill>
        <p:spPr>
          <a:xfrm>
            <a:off x="0" y="0"/>
            <a:ext cx="3663679" cy="1629624"/>
          </a:xfrm>
          <a:prstGeom prst="rect">
            <a:avLst/>
          </a:prstGeom>
        </p:spPr>
      </p:pic>
    </p:spTree>
    <p:extLst>
      <p:ext uri="{BB962C8B-B14F-4D97-AF65-F5344CB8AC3E}">
        <p14:creationId xmlns:p14="http://schemas.microsoft.com/office/powerpoint/2010/main" val="3147571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AAFB1-EE92-6AB1-E944-DCF352403F27}"/>
              </a:ext>
            </a:extLst>
          </p:cNvPr>
          <p:cNvSpPr>
            <a:spLocks noGrp="1"/>
          </p:cNvSpPr>
          <p:nvPr>
            <p:ph type="title"/>
          </p:nvPr>
        </p:nvSpPr>
        <p:spPr>
          <a:xfrm>
            <a:off x="838200" y="184748"/>
            <a:ext cx="10515600" cy="1325563"/>
          </a:xfrm>
        </p:spPr>
        <p:txBody>
          <a:bodyPr/>
          <a:lstStyle/>
          <a:p>
            <a:r>
              <a:rPr lang="en-GB" dirty="0"/>
              <a:t>Who is Vertex Supply Co. </a:t>
            </a:r>
            <a:endParaRPr lang="LID4096" dirty="0"/>
          </a:p>
        </p:txBody>
      </p:sp>
      <p:sp>
        <p:nvSpPr>
          <p:cNvPr id="3" name="Content Placeholder 2">
            <a:extLst>
              <a:ext uri="{FF2B5EF4-FFF2-40B4-BE49-F238E27FC236}">
                <a16:creationId xmlns:a16="http://schemas.microsoft.com/office/drawing/2014/main" id="{33B1D85B-BBFA-583C-C1EE-DC301DACDF06}"/>
              </a:ext>
            </a:extLst>
          </p:cNvPr>
          <p:cNvSpPr>
            <a:spLocks noGrp="1"/>
          </p:cNvSpPr>
          <p:nvPr>
            <p:ph idx="1"/>
          </p:nvPr>
        </p:nvSpPr>
        <p:spPr>
          <a:xfrm>
            <a:off x="838200" y="2088175"/>
            <a:ext cx="4937911" cy="3298636"/>
          </a:xfrm>
        </p:spPr>
        <p:txBody>
          <a:bodyPr>
            <a:normAutofit lnSpcReduction="10000"/>
          </a:bodyPr>
          <a:lstStyle/>
          <a:p>
            <a:pPr>
              <a:spcBef>
                <a:spcPts val="2400"/>
              </a:spcBef>
            </a:pPr>
            <a:r>
              <a:rPr lang="en-GB" dirty="0"/>
              <a:t>Mid-size B2B office supply retailer</a:t>
            </a:r>
          </a:p>
          <a:p>
            <a:pPr>
              <a:spcBef>
                <a:spcPts val="2400"/>
              </a:spcBef>
            </a:pPr>
            <a:r>
              <a:rPr lang="en-GB" dirty="0"/>
              <a:t>Operating across five geographic regions in Myanmar</a:t>
            </a:r>
          </a:p>
          <a:p>
            <a:pPr>
              <a:spcBef>
                <a:spcPts val="2400"/>
              </a:spcBef>
            </a:pPr>
            <a:r>
              <a:rPr lang="en-GB" dirty="0"/>
              <a:t>Serving small to medium enterprise customers</a:t>
            </a:r>
            <a:endParaRPr lang="LID4096" dirty="0"/>
          </a:p>
        </p:txBody>
      </p:sp>
      <p:pic>
        <p:nvPicPr>
          <p:cNvPr id="4" name="Picture 3">
            <a:extLst>
              <a:ext uri="{FF2B5EF4-FFF2-40B4-BE49-F238E27FC236}">
                <a16:creationId xmlns:a16="http://schemas.microsoft.com/office/drawing/2014/main" id="{DE2A6F65-5312-D375-51CC-A4772BD0D138}"/>
              </a:ext>
            </a:extLst>
          </p:cNvPr>
          <p:cNvPicPr>
            <a:picLocks noChangeAspect="1"/>
          </p:cNvPicPr>
          <p:nvPr/>
        </p:nvPicPr>
        <p:blipFill>
          <a:blip r:embed="rId2">
            <a:extLst>
              <a:ext uri="{28A0092B-C50C-407E-A947-70E740481C1C}">
                <a14:useLocalDpi xmlns:a14="http://schemas.microsoft.com/office/drawing/2010/main" val="0"/>
              </a:ext>
            </a:extLst>
          </a:blip>
          <a:srcRect l="19333" t="28294" r="15796" b="37469"/>
          <a:stretch>
            <a:fillRect/>
          </a:stretch>
        </p:blipFill>
        <p:spPr>
          <a:xfrm>
            <a:off x="10639919" y="6311900"/>
            <a:ext cx="1552081" cy="546100"/>
          </a:xfrm>
          <a:prstGeom prst="rect">
            <a:avLst/>
          </a:prstGeom>
        </p:spPr>
      </p:pic>
      <p:pic>
        <p:nvPicPr>
          <p:cNvPr id="6" name="Picture 5">
            <a:extLst>
              <a:ext uri="{FF2B5EF4-FFF2-40B4-BE49-F238E27FC236}">
                <a16:creationId xmlns:a16="http://schemas.microsoft.com/office/drawing/2014/main" id="{C7C70C17-7E8E-AF9B-2FC8-963B1E7FB62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11865" t="7301" b="6586"/>
          <a:stretch>
            <a:fillRect/>
          </a:stretch>
        </p:blipFill>
        <p:spPr>
          <a:xfrm>
            <a:off x="7695446" y="365125"/>
            <a:ext cx="4034827" cy="5913454"/>
          </a:xfrm>
          <a:prstGeom prst="rect">
            <a:avLst/>
          </a:prstGeom>
        </p:spPr>
      </p:pic>
    </p:spTree>
    <p:extLst>
      <p:ext uri="{BB962C8B-B14F-4D97-AF65-F5344CB8AC3E}">
        <p14:creationId xmlns:p14="http://schemas.microsoft.com/office/powerpoint/2010/main" val="4027291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A001C-CFBA-64D5-F6A4-1DE826F818BD}"/>
              </a:ext>
            </a:extLst>
          </p:cNvPr>
          <p:cNvSpPr>
            <a:spLocks noGrp="1"/>
          </p:cNvSpPr>
          <p:nvPr>
            <p:ph type="title"/>
          </p:nvPr>
        </p:nvSpPr>
        <p:spPr>
          <a:xfrm>
            <a:off x="838200" y="237625"/>
            <a:ext cx="10515600" cy="1325563"/>
          </a:xfrm>
        </p:spPr>
        <p:txBody>
          <a:bodyPr/>
          <a:lstStyle/>
          <a:p>
            <a:r>
              <a:rPr lang="en-GB" dirty="0"/>
              <a:t>Understanding Customer Value, </a:t>
            </a:r>
            <a:r>
              <a:rPr lang="en-GB" dirty="0" err="1"/>
              <a:t>Behavior</a:t>
            </a:r>
            <a:r>
              <a:rPr lang="en-GB" dirty="0"/>
              <a:t>, and Lifecycle</a:t>
            </a:r>
            <a:endParaRPr lang="LID4096" dirty="0"/>
          </a:p>
        </p:txBody>
      </p:sp>
      <p:pic>
        <p:nvPicPr>
          <p:cNvPr id="4" name="Picture 3">
            <a:extLst>
              <a:ext uri="{FF2B5EF4-FFF2-40B4-BE49-F238E27FC236}">
                <a16:creationId xmlns:a16="http://schemas.microsoft.com/office/drawing/2014/main" id="{4677FAFA-5A3C-BA83-3280-C07C7A34E5DA}"/>
              </a:ext>
            </a:extLst>
          </p:cNvPr>
          <p:cNvPicPr>
            <a:picLocks noChangeAspect="1"/>
          </p:cNvPicPr>
          <p:nvPr/>
        </p:nvPicPr>
        <p:blipFill>
          <a:blip r:embed="rId3">
            <a:extLst>
              <a:ext uri="{28A0092B-C50C-407E-A947-70E740481C1C}">
                <a14:useLocalDpi xmlns:a14="http://schemas.microsoft.com/office/drawing/2010/main" val="0"/>
              </a:ext>
            </a:extLst>
          </a:blip>
          <a:srcRect l="19333" t="28294" r="15796" b="37469"/>
          <a:stretch>
            <a:fillRect/>
          </a:stretch>
        </p:blipFill>
        <p:spPr>
          <a:xfrm>
            <a:off x="10639919" y="6311900"/>
            <a:ext cx="1552081" cy="546100"/>
          </a:xfrm>
          <a:prstGeom prst="rect">
            <a:avLst/>
          </a:prstGeom>
        </p:spPr>
      </p:pic>
      <p:pic>
        <p:nvPicPr>
          <p:cNvPr id="6" name="Picture 5">
            <a:extLst>
              <a:ext uri="{FF2B5EF4-FFF2-40B4-BE49-F238E27FC236}">
                <a16:creationId xmlns:a16="http://schemas.microsoft.com/office/drawing/2014/main" id="{43CB938A-E6E3-A6BF-6BCC-97D2DEC97AB0}"/>
              </a:ext>
            </a:extLst>
          </p:cNvPr>
          <p:cNvPicPr>
            <a:picLocks noChangeAspect="1"/>
          </p:cNvPicPr>
          <p:nvPr/>
        </p:nvPicPr>
        <p:blipFill>
          <a:blip r:embed="rId4">
            <a:extLst>
              <a:ext uri="{28A0092B-C50C-407E-A947-70E740481C1C}">
                <a14:useLocalDpi xmlns:a14="http://schemas.microsoft.com/office/drawing/2010/main" val="0"/>
              </a:ext>
            </a:extLst>
          </a:blip>
          <a:srcRect t="22788" r="72289" b="25522"/>
          <a:stretch>
            <a:fillRect/>
          </a:stretch>
        </p:blipFill>
        <p:spPr>
          <a:xfrm>
            <a:off x="1246700" y="1691992"/>
            <a:ext cx="2490458" cy="3096943"/>
          </a:xfrm>
          <a:prstGeom prst="rect">
            <a:avLst/>
          </a:prstGeom>
        </p:spPr>
      </p:pic>
      <p:pic>
        <p:nvPicPr>
          <p:cNvPr id="7" name="Picture 6">
            <a:extLst>
              <a:ext uri="{FF2B5EF4-FFF2-40B4-BE49-F238E27FC236}">
                <a16:creationId xmlns:a16="http://schemas.microsoft.com/office/drawing/2014/main" id="{AA6C6DEC-B699-3F8F-9508-88A466F96693}"/>
              </a:ext>
            </a:extLst>
          </p:cNvPr>
          <p:cNvPicPr>
            <a:picLocks noChangeAspect="1"/>
          </p:cNvPicPr>
          <p:nvPr/>
        </p:nvPicPr>
        <p:blipFill>
          <a:blip r:embed="rId4">
            <a:extLst>
              <a:ext uri="{28A0092B-C50C-407E-A947-70E740481C1C}">
                <a14:useLocalDpi xmlns:a14="http://schemas.microsoft.com/office/drawing/2010/main" val="0"/>
              </a:ext>
            </a:extLst>
          </a:blip>
          <a:srcRect l="68412" t="23900" b="28717"/>
          <a:stretch>
            <a:fillRect/>
          </a:stretch>
        </p:blipFill>
        <p:spPr>
          <a:xfrm>
            <a:off x="8751068" y="1930384"/>
            <a:ext cx="2798345" cy="2798345"/>
          </a:xfrm>
          <a:prstGeom prst="rect">
            <a:avLst/>
          </a:prstGeom>
        </p:spPr>
      </p:pic>
      <p:pic>
        <p:nvPicPr>
          <p:cNvPr id="8" name="Picture 7">
            <a:extLst>
              <a:ext uri="{FF2B5EF4-FFF2-40B4-BE49-F238E27FC236}">
                <a16:creationId xmlns:a16="http://schemas.microsoft.com/office/drawing/2014/main" id="{A23810F6-9657-21A5-E13C-BC1C557418F6}"/>
              </a:ext>
            </a:extLst>
          </p:cNvPr>
          <p:cNvPicPr>
            <a:picLocks noChangeAspect="1"/>
          </p:cNvPicPr>
          <p:nvPr/>
        </p:nvPicPr>
        <p:blipFill>
          <a:blip r:embed="rId4">
            <a:extLst>
              <a:ext uri="{28A0092B-C50C-407E-A947-70E740481C1C}">
                <a14:useLocalDpi xmlns:a14="http://schemas.microsoft.com/office/drawing/2010/main" val="0"/>
              </a:ext>
            </a:extLst>
          </a:blip>
          <a:srcRect l="34508" t="23506" r="33904" b="26667"/>
          <a:stretch>
            <a:fillRect/>
          </a:stretch>
        </p:blipFill>
        <p:spPr>
          <a:xfrm>
            <a:off x="4844592" y="1608081"/>
            <a:ext cx="3104584" cy="3264766"/>
          </a:xfrm>
          <a:prstGeom prst="rect">
            <a:avLst/>
          </a:prstGeom>
        </p:spPr>
      </p:pic>
      <p:sp>
        <p:nvSpPr>
          <p:cNvPr id="11" name="Arrow: Right 10">
            <a:extLst>
              <a:ext uri="{FF2B5EF4-FFF2-40B4-BE49-F238E27FC236}">
                <a16:creationId xmlns:a16="http://schemas.microsoft.com/office/drawing/2014/main" id="{1EACF0AC-0EDC-B1C4-BDCE-D054DE34E188}"/>
              </a:ext>
            </a:extLst>
          </p:cNvPr>
          <p:cNvSpPr/>
          <p:nvPr/>
        </p:nvSpPr>
        <p:spPr>
          <a:xfrm>
            <a:off x="3875847" y="2659600"/>
            <a:ext cx="823865" cy="6699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2" name="Arrow: Right 11">
            <a:extLst>
              <a:ext uri="{FF2B5EF4-FFF2-40B4-BE49-F238E27FC236}">
                <a16:creationId xmlns:a16="http://schemas.microsoft.com/office/drawing/2014/main" id="{37859381-F867-8F56-CF60-A2CE6E7EBCF8}"/>
              </a:ext>
            </a:extLst>
          </p:cNvPr>
          <p:cNvSpPr/>
          <p:nvPr/>
        </p:nvSpPr>
        <p:spPr>
          <a:xfrm>
            <a:off x="7682123" y="2659600"/>
            <a:ext cx="823865" cy="6699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3" name="TextBox 12">
            <a:extLst>
              <a:ext uri="{FF2B5EF4-FFF2-40B4-BE49-F238E27FC236}">
                <a16:creationId xmlns:a16="http://schemas.microsoft.com/office/drawing/2014/main" id="{107C9FAF-0F4A-29E6-C20A-1B7BB7512F46}"/>
              </a:ext>
            </a:extLst>
          </p:cNvPr>
          <p:cNvSpPr txBox="1"/>
          <p:nvPr/>
        </p:nvSpPr>
        <p:spPr>
          <a:xfrm>
            <a:off x="838200" y="5165022"/>
            <a:ext cx="10671143" cy="830997"/>
          </a:xfrm>
          <a:prstGeom prst="rect">
            <a:avLst/>
          </a:prstGeom>
          <a:noFill/>
        </p:spPr>
        <p:txBody>
          <a:bodyPr wrap="square" rtlCol="0">
            <a:spAutoFit/>
          </a:bodyPr>
          <a:lstStyle/>
          <a:p>
            <a:r>
              <a:rPr lang="en-GB" sz="2400" dirty="0"/>
              <a:t>We analysed customer behaviour across value, geography, and time to identify drivers of retention and revenue performance.</a:t>
            </a:r>
            <a:endParaRPr lang="LID4096" sz="2400" dirty="0"/>
          </a:p>
        </p:txBody>
      </p:sp>
    </p:spTree>
    <p:extLst>
      <p:ext uri="{BB962C8B-B14F-4D97-AF65-F5344CB8AC3E}">
        <p14:creationId xmlns:p14="http://schemas.microsoft.com/office/powerpoint/2010/main" val="1718184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D241D-0F26-174D-B965-0CAEB29A468D}"/>
              </a:ext>
            </a:extLst>
          </p:cNvPr>
          <p:cNvSpPr>
            <a:spLocks noGrp="1"/>
          </p:cNvSpPr>
          <p:nvPr>
            <p:ph type="title"/>
          </p:nvPr>
        </p:nvSpPr>
        <p:spPr>
          <a:xfrm>
            <a:off x="838200" y="205063"/>
            <a:ext cx="10515600" cy="1325563"/>
          </a:xfrm>
        </p:spPr>
        <p:txBody>
          <a:bodyPr/>
          <a:lstStyle/>
          <a:p>
            <a:r>
              <a:rPr lang="de-DE" dirty="0"/>
              <a:t>Business </a:t>
            </a:r>
            <a:r>
              <a:rPr lang="en-GB" noProof="0" dirty="0"/>
              <a:t>Performance is Declining</a:t>
            </a:r>
            <a:endParaRPr lang="LID4096" dirty="0"/>
          </a:p>
        </p:txBody>
      </p:sp>
      <p:pic>
        <p:nvPicPr>
          <p:cNvPr id="6" name="Picture 5">
            <a:extLst>
              <a:ext uri="{FF2B5EF4-FFF2-40B4-BE49-F238E27FC236}">
                <a16:creationId xmlns:a16="http://schemas.microsoft.com/office/drawing/2014/main" id="{DF61A03A-10C0-416F-218A-023E1F45392B}"/>
              </a:ext>
            </a:extLst>
          </p:cNvPr>
          <p:cNvPicPr>
            <a:picLocks noChangeAspect="1"/>
          </p:cNvPicPr>
          <p:nvPr/>
        </p:nvPicPr>
        <p:blipFill>
          <a:blip r:embed="rId3"/>
          <a:stretch>
            <a:fillRect/>
          </a:stretch>
        </p:blipFill>
        <p:spPr>
          <a:xfrm>
            <a:off x="5598708" y="1921280"/>
            <a:ext cx="6415374" cy="1466082"/>
          </a:xfrm>
          <a:prstGeom prst="rect">
            <a:avLst/>
          </a:prstGeom>
        </p:spPr>
      </p:pic>
      <p:sp>
        <p:nvSpPr>
          <p:cNvPr id="13" name="Content Placeholder 2">
            <a:extLst>
              <a:ext uri="{FF2B5EF4-FFF2-40B4-BE49-F238E27FC236}">
                <a16:creationId xmlns:a16="http://schemas.microsoft.com/office/drawing/2014/main" id="{A273B64E-7CFD-7C4B-1DAD-5D01699ED98D}"/>
              </a:ext>
            </a:extLst>
          </p:cNvPr>
          <p:cNvSpPr>
            <a:spLocks noGrp="1"/>
          </p:cNvSpPr>
          <p:nvPr>
            <p:ph idx="1"/>
          </p:nvPr>
        </p:nvSpPr>
        <p:spPr>
          <a:xfrm>
            <a:off x="838201" y="2207445"/>
            <a:ext cx="4576638" cy="3119929"/>
          </a:xfrm>
        </p:spPr>
        <p:txBody>
          <a:bodyPr>
            <a:normAutofit/>
          </a:bodyPr>
          <a:lstStyle/>
          <a:p>
            <a:pPr>
              <a:spcBef>
                <a:spcPts val="2400"/>
              </a:spcBef>
            </a:pPr>
            <a:r>
              <a:rPr lang="en-GB" sz="2000" b="1" dirty="0"/>
              <a:t>Revenue decreased by 75%</a:t>
            </a:r>
            <a:r>
              <a:rPr lang="en-GB" sz="2000" dirty="0"/>
              <a:t> over six months.</a:t>
            </a:r>
          </a:p>
          <a:p>
            <a:pPr>
              <a:spcBef>
                <a:spcPts val="2400"/>
              </a:spcBef>
            </a:pPr>
            <a:r>
              <a:rPr lang="en-GB" sz="2000" b="1" dirty="0"/>
              <a:t>Active</a:t>
            </a:r>
            <a:r>
              <a:rPr lang="en-GB" sz="2000" dirty="0"/>
              <a:t> customers declined from </a:t>
            </a:r>
            <a:r>
              <a:rPr lang="en-GB" sz="2000" b="1" dirty="0"/>
              <a:t>100 to 49</a:t>
            </a:r>
          </a:p>
          <a:p>
            <a:pPr>
              <a:spcBef>
                <a:spcPts val="2400"/>
              </a:spcBef>
            </a:pPr>
            <a:r>
              <a:rPr lang="en-GB" sz="2000" b="1" dirty="0"/>
              <a:t>Monthly transactions </a:t>
            </a:r>
            <a:r>
              <a:rPr lang="en-GB" sz="2000" dirty="0"/>
              <a:t>dropped from </a:t>
            </a:r>
            <a:r>
              <a:rPr lang="en-GB" sz="2000" b="1" dirty="0"/>
              <a:t>9.5K to 2.2K</a:t>
            </a:r>
          </a:p>
          <a:p>
            <a:pPr>
              <a:spcBef>
                <a:spcPts val="2400"/>
              </a:spcBef>
            </a:pPr>
            <a:r>
              <a:rPr lang="en-GB" sz="2000" dirty="0"/>
              <a:t>AOV remained stable at ~2.5MK</a:t>
            </a:r>
          </a:p>
        </p:txBody>
      </p:sp>
      <p:sp>
        <p:nvSpPr>
          <p:cNvPr id="14" name="TextBox 13">
            <a:extLst>
              <a:ext uri="{FF2B5EF4-FFF2-40B4-BE49-F238E27FC236}">
                <a16:creationId xmlns:a16="http://schemas.microsoft.com/office/drawing/2014/main" id="{75AC5DFA-3867-6982-663D-46A2C4C1C183}"/>
              </a:ext>
            </a:extLst>
          </p:cNvPr>
          <p:cNvSpPr txBox="1"/>
          <p:nvPr/>
        </p:nvSpPr>
        <p:spPr>
          <a:xfrm>
            <a:off x="7767759" y="1671827"/>
            <a:ext cx="2282024" cy="338554"/>
          </a:xfrm>
          <a:prstGeom prst="rect">
            <a:avLst/>
          </a:prstGeom>
          <a:noFill/>
        </p:spPr>
        <p:txBody>
          <a:bodyPr wrap="square" rtlCol="0">
            <a:spAutoFit/>
          </a:bodyPr>
          <a:lstStyle/>
          <a:p>
            <a:r>
              <a:rPr lang="en-GB" sz="1600" dirty="0"/>
              <a:t>Latest Month (June ’25)</a:t>
            </a:r>
            <a:endParaRPr lang="LID4096" sz="1600" dirty="0"/>
          </a:p>
        </p:txBody>
      </p:sp>
      <p:pic>
        <p:nvPicPr>
          <p:cNvPr id="15" name="Picture 14">
            <a:extLst>
              <a:ext uri="{FF2B5EF4-FFF2-40B4-BE49-F238E27FC236}">
                <a16:creationId xmlns:a16="http://schemas.microsoft.com/office/drawing/2014/main" id="{6509CDC7-7CA3-4932-884B-81874E408899}"/>
              </a:ext>
            </a:extLst>
          </p:cNvPr>
          <p:cNvPicPr>
            <a:picLocks noChangeAspect="1"/>
          </p:cNvPicPr>
          <p:nvPr/>
        </p:nvPicPr>
        <p:blipFill>
          <a:blip r:embed="rId4">
            <a:extLst>
              <a:ext uri="{28A0092B-C50C-407E-A947-70E740481C1C}">
                <a14:useLocalDpi xmlns:a14="http://schemas.microsoft.com/office/drawing/2010/main" val="0"/>
              </a:ext>
            </a:extLst>
          </a:blip>
          <a:srcRect l="19333" t="28294" r="15796" b="37469"/>
          <a:stretch>
            <a:fillRect/>
          </a:stretch>
        </p:blipFill>
        <p:spPr>
          <a:xfrm>
            <a:off x="10639919" y="6311900"/>
            <a:ext cx="1552081" cy="546100"/>
          </a:xfrm>
          <a:prstGeom prst="rect">
            <a:avLst/>
          </a:prstGeom>
        </p:spPr>
      </p:pic>
      <p:pic>
        <p:nvPicPr>
          <p:cNvPr id="17" name="Picture 16">
            <a:extLst>
              <a:ext uri="{FF2B5EF4-FFF2-40B4-BE49-F238E27FC236}">
                <a16:creationId xmlns:a16="http://schemas.microsoft.com/office/drawing/2014/main" id="{E6105C6B-083D-E50D-7328-D443F1DB399C}"/>
              </a:ext>
            </a:extLst>
          </p:cNvPr>
          <p:cNvPicPr>
            <a:picLocks noChangeAspect="1"/>
          </p:cNvPicPr>
          <p:nvPr/>
        </p:nvPicPr>
        <p:blipFill>
          <a:blip r:embed="rId5"/>
          <a:stretch>
            <a:fillRect/>
          </a:stretch>
        </p:blipFill>
        <p:spPr>
          <a:xfrm>
            <a:off x="5598708" y="3498781"/>
            <a:ext cx="6454739" cy="2701700"/>
          </a:xfrm>
          <a:prstGeom prst="rect">
            <a:avLst/>
          </a:prstGeom>
        </p:spPr>
      </p:pic>
      <p:sp>
        <p:nvSpPr>
          <p:cNvPr id="18" name="TextBox 17">
            <a:extLst>
              <a:ext uri="{FF2B5EF4-FFF2-40B4-BE49-F238E27FC236}">
                <a16:creationId xmlns:a16="http://schemas.microsoft.com/office/drawing/2014/main" id="{5E3535EE-8EB5-FB20-1C73-5E9D8D62DC30}"/>
              </a:ext>
            </a:extLst>
          </p:cNvPr>
          <p:cNvSpPr txBox="1"/>
          <p:nvPr/>
        </p:nvSpPr>
        <p:spPr>
          <a:xfrm>
            <a:off x="11243144" y="5422789"/>
            <a:ext cx="810303" cy="307777"/>
          </a:xfrm>
          <a:prstGeom prst="rect">
            <a:avLst/>
          </a:prstGeom>
          <a:noFill/>
        </p:spPr>
        <p:txBody>
          <a:bodyPr wrap="square" rtlCol="0">
            <a:spAutoFit/>
          </a:bodyPr>
          <a:lstStyle/>
          <a:p>
            <a:r>
              <a:rPr lang="en-GB" sz="1400" dirty="0"/>
              <a:t>5.7 bn K</a:t>
            </a:r>
          </a:p>
        </p:txBody>
      </p:sp>
      <p:sp>
        <p:nvSpPr>
          <p:cNvPr id="19" name="TextBox 18">
            <a:extLst>
              <a:ext uri="{FF2B5EF4-FFF2-40B4-BE49-F238E27FC236}">
                <a16:creationId xmlns:a16="http://schemas.microsoft.com/office/drawing/2014/main" id="{C06ACEC4-BD3B-E6C9-D1CF-E9CA8F63AE8C}"/>
              </a:ext>
            </a:extLst>
          </p:cNvPr>
          <p:cNvSpPr txBox="1"/>
          <p:nvPr/>
        </p:nvSpPr>
        <p:spPr>
          <a:xfrm>
            <a:off x="6675816" y="3613520"/>
            <a:ext cx="997193" cy="307777"/>
          </a:xfrm>
          <a:prstGeom prst="rect">
            <a:avLst/>
          </a:prstGeom>
          <a:noFill/>
        </p:spPr>
        <p:txBody>
          <a:bodyPr wrap="square" rtlCol="0">
            <a:spAutoFit/>
          </a:bodyPr>
          <a:lstStyle/>
          <a:p>
            <a:r>
              <a:rPr lang="en-GB" sz="1400" dirty="0"/>
              <a:t>23.5bn K</a:t>
            </a:r>
          </a:p>
        </p:txBody>
      </p:sp>
    </p:spTree>
    <p:extLst>
      <p:ext uri="{BB962C8B-B14F-4D97-AF65-F5344CB8AC3E}">
        <p14:creationId xmlns:p14="http://schemas.microsoft.com/office/powerpoint/2010/main" val="3381865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8656A-0010-673D-3223-BC11D70AA7F5}"/>
              </a:ext>
            </a:extLst>
          </p:cNvPr>
          <p:cNvSpPr>
            <a:spLocks noGrp="1"/>
          </p:cNvSpPr>
          <p:nvPr>
            <p:ph type="title"/>
          </p:nvPr>
        </p:nvSpPr>
        <p:spPr>
          <a:xfrm>
            <a:off x="838200" y="88979"/>
            <a:ext cx="10515600" cy="1325563"/>
          </a:xfrm>
        </p:spPr>
        <p:txBody>
          <a:bodyPr/>
          <a:lstStyle/>
          <a:p>
            <a:r>
              <a:rPr lang="en-GB" dirty="0"/>
              <a:t>Customer Activity is Steadily Declining</a:t>
            </a:r>
            <a:endParaRPr lang="LID4096" dirty="0"/>
          </a:p>
        </p:txBody>
      </p:sp>
      <p:sp>
        <p:nvSpPr>
          <p:cNvPr id="3" name="Content Placeholder 2">
            <a:extLst>
              <a:ext uri="{FF2B5EF4-FFF2-40B4-BE49-F238E27FC236}">
                <a16:creationId xmlns:a16="http://schemas.microsoft.com/office/drawing/2014/main" id="{B20633DF-2595-59C9-7CA7-28935DD93CF0}"/>
              </a:ext>
            </a:extLst>
          </p:cNvPr>
          <p:cNvSpPr>
            <a:spLocks noGrp="1"/>
          </p:cNvSpPr>
          <p:nvPr>
            <p:ph idx="1"/>
          </p:nvPr>
        </p:nvSpPr>
        <p:spPr>
          <a:xfrm>
            <a:off x="921655" y="2188994"/>
            <a:ext cx="4218830" cy="3456431"/>
          </a:xfrm>
        </p:spPr>
        <p:txBody>
          <a:bodyPr>
            <a:normAutofit/>
          </a:bodyPr>
          <a:lstStyle/>
          <a:p>
            <a:pPr>
              <a:spcBef>
                <a:spcPts val="2400"/>
              </a:spcBef>
            </a:pPr>
            <a:r>
              <a:rPr lang="en-GB" sz="2000" dirty="0"/>
              <a:t>Transactions decline from </a:t>
            </a:r>
            <a:r>
              <a:rPr lang="en-GB" sz="2000" b="1" dirty="0"/>
              <a:t>9.5K to 2.2K (~75%)</a:t>
            </a:r>
          </a:p>
          <a:p>
            <a:pPr>
              <a:spcBef>
                <a:spcPts val="2400"/>
              </a:spcBef>
            </a:pPr>
            <a:r>
              <a:rPr lang="en-GB" sz="2000" dirty="0"/>
              <a:t>Active customers decreased from </a:t>
            </a:r>
            <a:r>
              <a:rPr lang="en-GB" sz="2000" b="1" dirty="0"/>
              <a:t>100 to 49 (~50%)</a:t>
            </a:r>
          </a:p>
          <a:p>
            <a:pPr>
              <a:spcBef>
                <a:spcPts val="2400"/>
              </a:spcBef>
            </a:pPr>
            <a:r>
              <a:rPr lang="en-GB" sz="2000" dirty="0"/>
              <a:t>Decline is steady with </a:t>
            </a:r>
            <a:r>
              <a:rPr lang="en-GB" sz="2000" b="1" dirty="0"/>
              <a:t>no signs of recovery</a:t>
            </a:r>
          </a:p>
          <a:p>
            <a:pPr>
              <a:spcBef>
                <a:spcPts val="2400"/>
              </a:spcBef>
            </a:pPr>
            <a:r>
              <a:rPr lang="en-GB" sz="2000" dirty="0"/>
              <a:t>Declining customer activity is the primary driver of revenue loss</a:t>
            </a:r>
            <a:endParaRPr lang="en-GB" sz="2000" b="1" dirty="0"/>
          </a:p>
          <a:p>
            <a:pPr>
              <a:spcBef>
                <a:spcPts val="2400"/>
              </a:spcBef>
            </a:pPr>
            <a:endParaRPr lang="LID4096" sz="2000" dirty="0"/>
          </a:p>
        </p:txBody>
      </p:sp>
      <p:pic>
        <p:nvPicPr>
          <p:cNvPr id="4" name="Picture 3">
            <a:extLst>
              <a:ext uri="{FF2B5EF4-FFF2-40B4-BE49-F238E27FC236}">
                <a16:creationId xmlns:a16="http://schemas.microsoft.com/office/drawing/2014/main" id="{1B48A87F-6EC9-FAB7-A207-092940D36127}"/>
              </a:ext>
            </a:extLst>
          </p:cNvPr>
          <p:cNvPicPr>
            <a:picLocks noChangeAspect="1"/>
          </p:cNvPicPr>
          <p:nvPr/>
        </p:nvPicPr>
        <p:blipFill>
          <a:blip r:embed="rId3">
            <a:extLst>
              <a:ext uri="{28A0092B-C50C-407E-A947-70E740481C1C}">
                <a14:useLocalDpi xmlns:a14="http://schemas.microsoft.com/office/drawing/2010/main" val="0"/>
              </a:ext>
            </a:extLst>
          </a:blip>
          <a:srcRect l="19333" t="28294" r="15796" b="37469"/>
          <a:stretch>
            <a:fillRect/>
          </a:stretch>
        </p:blipFill>
        <p:spPr>
          <a:xfrm>
            <a:off x="10639919" y="6311900"/>
            <a:ext cx="1552081" cy="546100"/>
          </a:xfrm>
          <a:prstGeom prst="rect">
            <a:avLst/>
          </a:prstGeom>
        </p:spPr>
      </p:pic>
      <p:pic>
        <p:nvPicPr>
          <p:cNvPr id="11" name="Picture 10">
            <a:extLst>
              <a:ext uri="{FF2B5EF4-FFF2-40B4-BE49-F238E27FC236}">
                <a16:creationId xmlns:a16="http://schemas.microsoft.com/office/drawing/2014/main" id="{D23D6F84-B73B-781C-BE94-8376293085BB}"/>
              </a:ext>
            </a:extLst>
          </p:cNvPr>
          <p:cNvPicPr>
            <a:picLocks noChangeAspect="1"/>
          </p:cNvPicPr>
          <p:nvPr/>
        </p:nvPicPr>
        <p:blipFill>
          <a:blip r:embed="rId4"/>
          <a:stretch>
            <a:fillRect/>
          </a:stretch>
        </p:blipFill>
        <p:spPr>
          <a:xfrm>
            <a:off x="5998616" y="1275647"/>
            <a:ext cx="5661600" cy="5175148"/>
          </a:xfrm>
          <a:prstGeom prst="rect">
            <a:avLst/>
          </a:prstGeom>
        </p:spPr>
      </p:pic>
      <p:sp>
        <p:nvSpPr>
          <p:cNvPr id="12" name="TextBox 11">
            <a:extLst>
              <a:ext uri="{FF2B5EF4-FFF2-40B4-BE49-F238E27FC236}">
                <a16:creationId xmlns:a16="http://schemas.microsoft.com/office/drawing/2014/main" id="{6E4454D5-37F1-8639-6DCE-90359ED698C3}"/>
              </a:ext>
            </a:extLst>
          </p:cNvPr>
          <p:cNvSpPr txBox="1"/>
          <p:nvPr/>
        </p:nvSpPr>
        <p:spPr>
          <a:xfrm>
            <a:off x="6806316" y="1340102"/>
            <a:ext cx="548640" cy="307777"/>
          </a:xfrm>
          <a:prstGeom prst="rect">
            <a:avLst/>
          </a:prstGeom>
          <a:noFill/>
        </p:spPr>
        <p:txBody>
          <a:bodyPr wrap="square" rtlCol="0">
            <a:spAutoFit/>
          </a:bodyPr>
          <a:lstStyle/>
          <a:p>
            <a:r>
              <a:rPr lang="en-GB" sz="1400" dirty="0"/>
              <a:t>9.5K</a:t>
            </a:r>
            <a:endParaRPr lang="LID4096" sz="1400" dirty="0"/>
          </a:p>
        </p:txBody>
      </p:sp>
      <p:sp>
        <p:nvSpPr>
          <p:cNvPr id="13" name="TextBox 12">
            <a:extLst>
              <a:ext uri="{FF2B5EF4-FFF2-40B4-BE49-F238E27FC236}">
                <a16:creationId xmlns:a16="http://schemas.microsoft.com/office/drawing/2014/main" id="{DDB52990-2DE6-BFE6-3594-E7D5A253EE00}"/>
              </a:ext>
            </a:extLst>
          </p:cNvPr>
          <p:cNvSpPr txBox="1"/>
          <p:nvPr/>
        </p:nvSpPr>
        <p:spPr>
          <a:xfrm>
            <a:off x="11141639" y="3202033"/>
            <a:ext cx="548640" cy="307777"/>
          </a:xfrm>
          <a:prstGeom prst="rect">
            <a:avLst/>
          </a:prstGeom>
          <a:noFill/>
        </p:spPr>
        <p:txBody>
          <a:bodyPr wrap="square" rtlCol="0">
            <a:spAutoFit/>
          </a:bodyPr>
          <a:lstStyle/>
          <a:p>
            <a:r>
              <a:rPr lang="en-GB" sz="1400" dirty="0"/>
              <a:t>2.2K</a:t>
            </a:r>
            <a:endParaRPr lang="LID4096" sz="1400" dirty="0"/>
          </a:p>
        </p:txBody>
      </p:sp>
      <p:sp>
        <p:nvSpPr>
          <p:cNvPr id="14" name="TextBox 13">
            <a:extLst>
              <a:ext uri="{FF2B5EF4-FFF2-40B4-BE49-F238E27FC236}">
                <a16:creationId xmlns:a16="http://schemas.microsoft.com/office/drawing/2014/main" id="{114D8162-E1A9-5CDA-CCDA-915082BDF941}"/>
              </a:ext>
            </a:extLst>
          </p:cNvPr>
          <p:cNvSpPr txBox="1"/>
          <p:nvPr/>
        </p:nvSpPr>
        <p:spPr>
          <a:xfrm>
            <a:off x="11270345" y="5645425"/>
            <a:ext cx="548640" cy="307777"/>
          </a:xfrm>
          <a:prstGeom prst="rect">
            <a:avLst/>
          </a:prstGeom>
          <a:noFill/>
        </p:spPr>
        <p:txBody>
          <a:bodyPr wrap="square" rtlCol="0">
            <a:spAutoFit/>
          </a:bodyPr>
          <a:lstStyle/>
          <a:p>
            <a:r>
              <a:rPr lang="en-GB" sz="1400" dirty="0"/>
              <a:t>49</a:t>
            </a:r>
          </a:p>
        </p:txBody>
      </p:sp>
      <p:sp>
        <p:nvSpPr>
          <p:cNvPr id="15" name="TextBox 14">
            <a:extLst>
              <a:ext uri="{FF2B5EF4-FFF2-40B4-BE49-F238E27FC236}">
                <a16:creationId xmlns:a16="http://schemas.microsoft.com/office/drawing/2014/main" id="{894F3085-44F4-5F1A-1C93-9157F142F0D1}"/>
              </a:ext>
            </a:extLst>
          </p:cNvPr>
          <p:cNvSpPr txBox="1"/>
          <p:nvPr/>
        </p:nvSpPr>
        <p:spPr>
          <a:xfrm>
            <a:off x="6731316" y="4047521"/>
            <a:ext cx="548640" cy="307777"/>
          </a:xfrm>
          <a:prstGeom prst="rect">
            <a:avLst/>
          </a:prstGeom>
          <a:noFill/>
        </p:spPr>
        <p:txBody>
          <a:bodyPr wrap="square" rtlCol="0">
            <a:spAutoFit/>
          </a:bodyPr>
          <a:lstStyle/>
          <a:p>
            <a:r>
              <a:rPr lang="en-GB" sz="1400" dirty="0"/>
              <a:t>100</a:t>
            </a:r>
            <a:endParaRPr lang="LID4096" sz="1400" dirty="0"/>
          </a:p>
        </p:txBody>
      </p:sp>
    </p:spTree>
    <p:extLst>
      <p:ext uri="{BB962C8B-B14F-4D97-AF65-F5344CB8AC3E}">
        <p14:creationId xmlns:p14="http://schemas.microsoft.com/office/powerpoint/2010/main" val="256312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7E7D9-927F-4EDA-DC73-42CA692D81B0}"/>
              </a:ext>
            </a:extLst>
          </p:cNvPr>
          <p:cNvSpPr>
            <a:spLocks noGrp="1"/>
          </p:cNvSpPr>
          <p:nvPr>
            <p:ph type="title"/>
          </p:nvPr>
        </p:nvSpPr>
        <p:spPr>
          <a:xfrm>
            <a:off x="838200" y="191095"/>
            <a:ext cx="10515600" cy="1325563"/>
          </a:xfrm>
        </p:spPr>
        <p:txBody>
          <a:bodyPr/>
          <a:lstStyle/>
          <a:p>
            <a:r>
              <a:rPr lang="en-GB" dirty="0"/>
              <a:t>Spending per Customer Remains Stable</a:t>
            </a:r>
            <a:endParaRPr lang="LID4096" dirty="0"/>
          </a:p>
        </p:txBody>
      </p:sp>
      <p:sp>
        <p:nvSpPr>
          <p:cNvPr id="3" name="Content Placeholder 2">
            <a:extLst>
              <a:ext uri="{FF2B5EF4-FFF2-40B4-BE49-F238E27FC236}">
                <a16:creationId xmlns:a16="http://schemas.microsoft.com/office/drawing/2014/main" id="{8ED72F6E-9C27-D65D-ECF2-BA8616DC8715}"/>
              </a:ext>
            </a:extLst>
          </p:cNvPr>
          <p:cNvSpPr>
            <a:spLocks noGrp="1"/>
          </p:cNvSpPr>
          <p:nvPr>
            <p:ph idx="1"/>
          </p:nvPr>
        </p:nvSpPr>
        <p:spPr>
          <a:xfrm>
            <a:off x="838200" y="2406070"/>
            <a:ext cx="3980290" cy="2468079"/>
          </a:xfrm>
        </p:spPr>
        <p:txBody>
          <a:bodyPr>
            <a:normAutofit/>
          </a:bodyPr>
          <a:lstStyle/>
          <a:p>
            <a:pPr>
              <a:spcBef>
                <a:spcPts val="2400"/>
              </a:spcBef>
            </a:pPr>
            <a:r>
              <a:rPr lang="en-GB" sz="2000" dirty="0"/>
              <a:t>AOV remained stable </a:t>
            </a:r>
            <a:r>
              <a:rPr lang="en-GB" sz="2000" b="1" dirty="0"/>
              <a:t>2.42M-2.54M MMK</a:t>
            </a:r>
          </a:p>
          <a:p>
            <a:pPr>
              <a:spcBef>
                <a:spcPts val="2400"/>
              </a:spcBef>
            </a:pPr>
            <a:r>
              <a:rPr lang="en-GB" sz="2000" dirty="0"/>
              <a:t>No significant change is spending per transaction</a:t>
            </a:r>
          </a:p>
          <a:p>
            <a:pPr>
              <a:spcBef>
                <a:spcPts val="2400"/>
              </a:spcBef>
            </a:pPr>
            <a:r>
              <a:rPr lang="en-GB" sz="2000" dirty="0"/>
              <a:t>Revenue decline is not driven by order size </a:t>
            </a:r>
          </a:p>
          <a:p>
            <a:pPr>
              <a:spcBef>
                <a:spcPts val="2400"/>
              </a:spcBef>
            </a:pPr>
            <a:endParaRPr lang="LID4096" sz="2000" dirty="0"/>
          </a:p>
        </p:txBody>
      </p:sp>
      <p:pic>
        <p:nvPicPr>
          <p:cNvPr id="11" name="Picture 10">
            <a:extLst>
              <a:ext uri="{FF2B5EF4-FFF2-40B4-BE49-F238E27FC236}">
                <a16:creationId xmlns:a16="http://schemas.microsoft.com/office/drawing/2014/main" id="{4C91C9A4-FEDD-8975-31BA-2C64870A5987}"/>
              </a:ext>
            </a:extLst>
          </p:cNvPr>
          <p:cNvPicPr>
            <a:picLocks noChangeAspect="1"/>
          </p:cNvPicPr>
          <p:nvPr/>
        </p:nvPicPr>
        <p:blipFill>
          <a:blip r:embed="rId3"/>
          <a:stretch>
            <a:fillRect/>
          </a:stretch>
        </p:blipFill>
        <p:spPr>
          <a:xfrm>
            <a:off x="5274654" y="2149314"/>
            <a:ext cx="6540322" cy="3554248"/>
          </a:xfrm>
          <a:prstGeom prst="rect">
            <a:avLst/>
          </a:prstGeom>
        </p:spPr>
      </p:pic>
      <p:pic>
        <p:nvPicPr>
          <p:cNvPr id="6" name="Picture 5">
            <a:extLst>
              <a:ext uri="{FF2B5EF4-FFF2-40B4-BE49-F238E27FC236}">
                <a16:creationId xmlns:a16="http://schemas.microsoft.com/office/drawing/2014/main" id="{C9D3C5CB-4CAC-D368-06DB-17F90DDC3A71}"/>
              </a:ext>
            </a:extLst>
          </p:cNvPr>
          <p:cNvPicPr>
            <a:picLocks noChangeAspect="1"/>
          </p:cNvPicPr>
          <p:nvPr/>
        </p:nvPicPr>
        <p:blipFill>
          <a:blip r:embed="rId4">
            <a:extLst>
              <a:ext uri="{28A0092B-C50C-407E-A947-70E740481C1C}">
                <a14:useLocalDpi xmlns:a14="http://schemas.microsoft.com/office/drawing/2010/main" val="0"/>
              </a:ext>
            </a:extLst>
          </a:blip>
          <a:srcRect l="19333" t="28294" r="15796" b="37469"/>
          <a:stretch>
            <a:fillRect/>
          </a:stretch>
        </p:blipFill>
        <p:spPr>
          <a:xfrm>
            <a:off x="10639919" y="6311900"/>
            <a:ext cx="1552081" cy="546100"/>
          </a:xfrm>
          <a:prstGeom prst="rect">
            <a:avLst/>
          </a:prstGeom>
        </p:spPr>
      </p:pic>
      <p:sp>
        <p:nvSpPr>
          <p:cNvPr id="7" name="TextBox 6">
            <a:extLst>
              <a:ext uri="{FF2B5EF4-FFF2-40B4-BE49-F238E27FC236}">
                <a16:creationId xmlns:a16="http://schemas.microsoft.com/office/drawing/2014/main" id="{F487F610-7CB9-491A-AC4E-A7E2E50443F8}"/>
              </a:ext>
            </a:extLst>
          </p:cNvPr>
          <p:cNvSpPr txBox="1"/>
          <p:nvPr/>
        </p:nvSpPr>
        <p:spPr>
          <a:xfrm>
            <a:off x="6024438" y="3618661"/>
            <a:ext cx="850789" cy="307777"/>
          </a:xfrm>
          <a:prstGeom prst="rect">
            <a:avLst/>
          </a:prstGeom>
          <a:noFill/>
        </p:spPr>
        <p:txBody>
          <a:bodyPr wrap="square" rtlCol="0">
            <a:spAutoFit/>
          </a:bodyPr>
          <a:lstStyle/>
          <a:p>
            <a:r>
              <a:rPr lang="en-GB" sz="1400" dirty="0"/>
              <a:t>2.48 MK</a:t>
            </a:r>
            <a:endParaRPr lang="LID4096" sz="1400" dirty="0"/>
          </a:p>
        </p:txBody>
      </p:sp>
      <p:sp>
        <p:nvSpPr>
          <p:cNvPr id="8" name="TextBox 7">
            <a:extLst>
              <a:ext uri="{FF2B5EF4-FFF2-40B4-BE49-F238E27FC236}">
                <a16:creationId xmlns:a16="http://schemas.microsoft.com/office/drawing/2014/main" id="{03F0AFF7-E62D-2CA4-454F-5C27671E33E2}"/>
              </a:ext>
            </a:extLst>
          </p:cNvPr>
          <p:cNvSpPr txBox="1"/>
          <p:nvPr/>
        </p:nvSpPr>
        <p:spPr>
          <a:xfrm>
            <a:off x="11179534" y="3429000"/>
            <a:ext cx="834224" cy="307777"/>
          </a:xfrm>
          <a:prstGeom prst="rect">
            <a:avLst/>
          </a:prstGeom>
          <a:noFill/>
        </p:spPr>
        <p:txBody>
          <a:bodyPr wrap="square" rtlCol="0">
            <a:spAutoFit/>
          </a:bodyPr>
          <a:lstStyle/>
          <a:p>
            <a:r>
              <a:rPr lang="en-GB" sz="1400" dirty="0"/>
              <a:t>2.54 MK</a:t>
            </a:r>
            <a:endParaRPr lang="LID4096" sz="1400" dirty="0"/>
          </a:p>
        </p:txBody>
      </p:sp>
      <p:sp>
        <p:nvSpPr>
          <p:cNvPr id="9" name="TextBox 8">
            <a:extLst>
              <a:ext uri="{FF2B5EF4-FFF2-40B4-BE49-F238E27FC236}">
                <a16:creationId xmlns:a16="http://schemas.microsoft.com/office/drawing/2014/main" id="{64C77241-A2F4-4BE1-D32B-AA8D0E7D0E06}"/>
              </a:ext>
            </a:extLst>
          </p:cNvPr>
          <p:cNvSpPr txBox="1"/>
          <p:nvPr/>
        </p:nvSpPr>
        <p:spPr>
          <a:xfrm>
            <a:off x="7076662" y="4235230"/>
            <a:ext cx="850789" cy="307777"/>
          </a:xfrm>
          <a:prstGeom prst="rect">
            <a:avLst/>
          </a:prstGeom>
          <a:noFill/>
        </p:spPr>
        <p:txBody>
          <a:bodyPr wrap="square" rtlCol="0">
            <a:spAutoFit/>
          </a:bodyPr>
          <a:lstStyle/>
          <a:p>
            <a:r>
              <a:rPr lang="en-GB" sz="1400" dirty="0"/>
              <a:t>2.42 MK</a:t>
            </a:r>
            <a:endParaRPr lang="LID4096" sz="1400" dirty="0"/>
          </a:p>
        </p:txBody>
      </p:sp>
    </p:spTree>
    <p:extLst>
      <p:ext uri="{BB962C8B-B14F-4D97-AF65-F5344CB8AC3E}">
        <p14:creationId xmlns:p14="http://schemas.microsoft.com/office/powerpoint/2010/main" val="741332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AC3A2-772A-0239-74AF-1CEB069A227D}"/>
              </a:ext>
            </a:extLst>
          </p:cNvPr>
          <p:cNvSpPr>
            <a:spLocks noGrp="1"/>
          </p:cNvSpPr>
          <p:nvPr>
            <p:ph type="title"/>
          </p:nvPr>
        </p:nvSpPr>
        <p:spPr>
          <a:xfrm>
            <a:off x="838200" y="151405"/>
            <a:ext cx="10515600" cy="1325563"/>
          </a:xfrm>
        </p:spPr>
        <p:txBody>
          <a:bodyPr/>
          <a:lstStyle/>
          <a:p>
            <a:r>
              <a:rPr lang="en-GB" dirty="0"/>
              <a:t>Customer Base Shows High Churn Risk</a:t>
            </a:r>
            <a:endParaRPr lang="LID4096" dirty="0"/>
          </a:p>
        </p:txBody>
      </p:sp>
      <p:sp>
        <p:nvSpPr>
          <p:cNvPr id="3" name="Content Placeholder 2">
            <a:extLst>
              <a:ext uri="{FF2B5EF4-FFF2-40B4-BE49-F238E27FC236}">
                <a16:creationId xmlns:a16="http://schemas.microsoft.com/office/drawing/2014/main" id="{2EE86A0D-5DD6-BB1F-A275-F1CB54CC5E98}"/>
              </a:ext>
            </a:extLst>
          </p:cNvPr>
          <p:cNvSpPr>
            <a:spLocks noGrp="1"/>
          </p:cNvSpPr>
          <p:nvPr>
            <p:ph idx="1"/>
          </p:nvPr>
        </p:nvSpPr>
        <p:spPr>
          <a:xfrm>
            <a:off x="838200" y="2286918"/>
            <a:ext cx="4409661" cy="4024982"/>
          </a:xfrm>
        </p:spPr>
        <p:txBody>
          <a:bodyPr>
            <a:normAutofit/>
          </a:bodyPr>
          <a:lstStyle/>
          <a:p>
            <a:pPr>
              <a:spcBef>
                <a:spcPts val="2400"/>
              </a:spcBef>
            </a:pPr>
            <a:r>
              <a:rPr lang="en-GB" sz="2000" b="1" dirty="0"/>
              <a:t>41% of customers at high risk of churn </a:t>
            </a:r>
            <a:r>
              <a:rPr lang="en-GB" sz="2000" dirty="0"/>
              <a:t>(Hibernating, At Risk, Can’t Lose Them)</a:t>
            </a:r>
          </a:p>
          <a:p>
            <a:pPr>
              <a:spcBef>
                <a:spcPts val="2400"/>
              </a:spcBef>
            </a:pPr>
            <a:r>
              <a:rPr lang="en-GB" sz="2000" b="1" dirty="0"/>
              <a:t>Potential loyalists (26%) </a:t>
            </a:r>
            <a:r>
              <a:rPr lang="en-GB" sz="2000" dirty="0"/>
              <a:t>represent largest growth opportunity</a:t>
            </a:r>
            <a:endParaRPr lang="en-GB" sz="2000" b="1" dirty="0"/>
          </a:p>
          <a:p>
            <a:pPr>
              <a:spcBef>
                <a:spcPts val="2400"/>
              </a:spcBef>
            </a:pPr>
            <a:r>
              <a:rPr lang="en-GB" sz="2000" b="1" dirty="0"/>
              <a:t>Only ~25% of customers are high value </a:t>
            </a:r>
            <a:r>
              <a:rPr lang="en-GB" sz="2000" dirty="0"/>
              <a:t>and actively contributing (Loyal, Champions, Active)</a:t>
            </a:r>
          </a:p>
        </p:txBody>
      </p:sp>
      <p:pic>
        <p:nvPicPr>
          <p:cNvPr id="4" name="Picture 3">
            <a:extLst>
              <a:ext uri="{FF2B5EF4-FFF2-40B4-BE49-F238E27FC236}">
                <a16:creationId xmlns:a16="http://schemas.microsoft.com/office/drawing/2014/main" id="{EF63F4C9-B5BC-B645-B5F1-5F5A9D97078B}"/>
              </a:ext>
            </a:extLst>
          </p:cNvPr>
          <p:cNvPicPr>
            <a:picLocks noChangeAspect="1"/>
          </p:cNvPicPr>
          <p:nvPr/>
        </p:nvPicPr>
        <p:blipFill>
          <a:blip r:embed="rId3">
            <a:extLst>
              <a:ext uri="{28A0092B-C50C-407E-A947-70E740481C1C}">
                <a14:useLocalDpi xmlns:a14="http://schemas.microsoft.com/office/drawing/2010/main" val="0"/>
              </a:ext>
            </a:extLst>
          </a:blip>
          <a:srcRect l="19333" t="28294" r="15796" b="37469"/>
          <a:stretch>
            <a:fillRect/>
          </a:stretch>
        </p:blipFill>
        <p:spPr>
          <a:xfrm>
            <a:off x="10639919" y="6311900"/>
            <a:ext cx="1552081" cy="546100"/>
          </a:xfrm>
          <a:prstGeom prst="rect">
            <a:avLst/>
          </a:prstGeom>
        </p:spPr>
      </p:pic>
      <p:pic>
        <p:nvPicPr>
          <p:cNvPr id="6" name="Picture 5">
            <a:extLst>
              <a:ext uri="{FF2B5EF4-FFF2-40B4-BE49-F238E27FC236}">
                <a16:creationId xmlns:a16="http://schemas.microsoft.com/office/drawing/2014/main" id="{608FAC17-7DAB-BC26-FAC8-AD5E1BD0E661}"/>
              </a:ext>
            </a:extLst>
          </p:cNvPr>
          <p:cNvPicPr>
            <a:picLocks noChangeAspect="1"/>
          </p:cNvPicPr>
          <p:nvPr/>
        </p:nvPicPr>
        <p:blipFill>
          <a:blip r:embed="rId4"/>
          <a:stretch>
            <a:fillRect/>
          </a:stretch>
        </p:blipFill>
        <p:spPr>
          <a:xfrm>
            <a:off x="5620937" y="1342031"/>
            <a:ext cx="6130002" cy="4834932"/>
          </a:xfrm>
          <a:prstGeom prst="rect">
            <a:avLst/>
          </a:prstGeom>
        </p:spPr>
      </p:pic>
    </p:spTree>
    <p:extLst>
      <p:ext uri="{BB962C8B-B14F-4D97-AF65-F5344CB8AC3E}">
        <p14:creationId xmlns:p14="http://schemas.microsoft.com/office/powerpoint/2010/main" val="2069206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BDC08-256F-6B1C-1503-1FF1FA8810E8}"/>
              </a:ext>
            </a:extLst>
          </p:cNvPr>
          <p:cNvSpPr>
            <a:spLocks noGrp="1"/>
          </p:cNvSpPr>
          <p:nvPr>
            <p:ph type="title"/>
          </p:nvPr>
        </p:nvSpPr>
        <p:spPr>
          <a:xfrm>
            <a:off x="838200" y="203154"/>
            <a:ext cx="10515600" cy="1325563"/>
          </a:xfrm>
        </p:spPr>
        <p:txBody>
          <a:bodyPr/>
          <a:lstStyle/>
          <a:p>
            <a:r>
              <a:rPr lang="en-GB" dirty="0"/>
              <a:t>Customers Transition from High-Value to At Risk</a:t>
            </a:r>
            <a:endParaRPr lang="LID4096" dirty="0"/>
          </a:p>
        </p:txBody>
      </p:sp>
      <p:sp>
        <p:nvSpPr>
          <p:cNvPr id="3" name="Content Placeholder 2">
            <a:extLst>
              <a:ext uri="{FF2B5EF4-FFF2-40B4-BE49-F238E27FC236}">
                <a16:creationId xmlns:a16="http://schemas.microsoft.com/office/drawing/2014/main" id="{CB9341D9-5A01-DEAC-E9E7-B794E977FE68}"/>
              </a:ext>
            </a:extLst>
          </p:cNvPr>
          <p:cNvSpPr>
            <a:spLocks noGrp="1"/>
          </p:cNvSpPr>
          <p:nvPr>
            <p:ph idx="1"/>
          </p:nvPr>
        </p:nvSpPr>
        <p:spPr>
          <a:xfrm>
            <a:off x="710979" y="2239744"/>
            <a:ext cx="4131365" cy="3676678"/>
          </a:xfrm>
        </p:spPr>
        <p:txBody>
          <a:bodyPr>
            <a:normAutofit/>
          </a:bodyPr>
          <a:lstStyle/>
          <a:p>
            <a:pPr>
              <a:spcBef>
                <a:spcPts val="2400"/>
              </a:spcBef>
            </a:pPr>
            <a:r>
              <a:rPr lang="en-GB" sz="2000" b="1" dirty="0"/>
              <a:t>High value customers steadily decline</a:t>
            </a:r>
            <a:r>
              <a:rPr lang="en-GB" sz="2000" dirty="0"/>
              <a:t> as they move into lower engagement segments</a:t>
            </a:r>
          </a:p>
          <a:p>
            <a:pPr>
              <a:spcBef>
                <a:spcPts val="2400"/>
              </a:spcBef>
            </a:pPr>
            <a:r>
              <a:rPr lang="en-GB" sz="2000" dirty="0"/>
              <a:t>By Month 5 a significant portion of customers have moved into “At Risk” or “Hibernating”</a:t>
            </a:r>
          </a:p>
          <a:p>
            <a:pPr>
              <a:spcBef>
                <a:spcPts val="2400"/>
              </a:spcBef>
            </a:pPr>
            <a:r>
              <a:rPr lang="en-GB" sz="2000" dirty="0"/>
              <a:t>This suggests </a:t>
            </a:r>
            <a:r>
              <a:rPr lang="en-GB" sz="2000" b="1" dirty="0"/>
              <a:t>churn occurs gradually</a:t>
            </a:r>
            <a:r>
              <a:rPr lang="en-GB" sz="2000" dirty="0"/>
              <a:t> through reduced activity not immediate abandonment</a:t>
            </a:r>
          </a:p>
        </p:txBody>
      </p:sp>
      <p:pic>
        <p:nvPicPr>
          <p:cNvPr id="4" name="Picture 3">
            <a:extLst>
              <a:ext uri="{FF2B5EF4-FFF2-40B4-BE49-F238E27FC236}">
                <a16:creationId xmlns:a16="http://schemas.microsoft.com/office/drawing/2014/main" id="{47274195-F347-6117-6DE6-92C9ACB46B2E}"/>
              </a:ext>
            </a:extLst>
          </p:cNvPr>
          <p:cNvPicPr>
            <a:picLocks noChangeAspect="1"/>
          </p:cNvPicPr>
          <p:nvPr/>
        </p:nvPicPr>
        <p:blipFill>
          <a:blip r:embed="rId3">
            <a:extLst>
              <a:ext uri="{28A0092B-C50C-407E-A947-70E740481C1C}">
                <a14:useLocalDpi xmlns:a14="http://schemas.microsoft.com/office/drawing/2010/main" val="0"/>
              </a:ext>
            </a:extLst>
          </a:blip>
          <a:srcRect l="19333" t="28294" r="15796" b="37469"/>
          <a:stretch>
            <a:fillRect/>
          </a:stretch>
        </p:blipFill>
        <p:spPr>
          <a:xfrm>
            <a:off x="10639919" y="6311900"/>
            <a:ext cx="1552081" cy="546100"/>
          </a:xfrm>
          <a:prstGeom prst="rect">
            <a:avLst/>
          </a:prstGeom>
        </p:spPr>
      </p:pic>
      <p:pic>
        <p:nvPicPr>
          <p:cNvPr id="8" name="Picture 7">
            <a:extLst>
              <a:ext uri="{FF2B5EF4-FFF2-40B4-BE49-F238E27FC236}">
                <a16:creationId xmlns:a16="http://schemas.microsoft.com/office/drawing/2014/main" id="{9684E2CE-B0D0-45E7-30E3-A283A03645EC}"/>
              </a:ext>
            </a:extLst>
          </p:cNvPr>
          <p:cNvPicPr>
            <a:picLocks noChangeAspect="1"/>
          </p:cNvPicPr>
          <p:nvPr/>
        </p:nvPicPr>
        <p:blipFill>
          <a:blip r:embed="rId4"/>
          <a:stretch>
            <a:fillRect/>
          </a:stretch>
        </p:blipFill>
        <p:spPr>
          <a:xfrm>
            <a:off x="5200154" y="2004691"/>
            <a:ext cx="6828412" cy="4488184"/>
          </a:xfrm>
          <a:prstGeom prst="rect">
            <a:avLst/>
          </a:prstGeom>
        </p:spPr>
      </p:pic>
      <p:pic>
        <p:nvPicPr>
          <p:cNvPr id="10" name="Picture 9">
            <a:extLst>
              <a:ext uri="{FF2B5EF4-FFF2-40B4-BE49-F238E27FC236}">
                <a16:creationId xmlns:a16="http://schemas.microsoft.com/office/drawing/2014/main" id="{AF7C543F-685E-188D-F4B8-B7C2C4F1D4BF}"/>
              </a:ext>
            </a:extLst>
          </p:cNvPr>
          <p:cNvPicPr>
            <a:picLocks noChangeAspect="1"/>
          </p:cNvPicPr>
          <p:nvPr/>
        </p:nvPicPr>
        <p:blipFill>
          <a:blip r:embed="rId5"/>
          <a:srcRect r="35598" b="18002"/>
          <a:stretch>
            <a:fillRect/>
          </a:stretch>
        </p:blipFill>
        <p:spPr>
          <a:xfrm>
            <a:off x="5310592" y="1528717"/>
            <a:ext cx="6607535" cy="458880"/>
          </a:xfrm>
          <a:prstGeom prst="rect">
            <a:avLst/>
          </a:prstGeom>
        </p:spPr>
      </p:pic>
      <p:pic>
        <p:nvPicPr>
          <p:cNvPr id="13" name="Picture 12">
            <a:extLst>
              <a:ext uri="{FF2B5EF4-FFF2-40B4-BE49-F238E27FC236}">
                <a16:creationId xmlns:a16="http://schemas.microsoft.com/office/drawing/2014/main" id="{BF8CCEBF-5082-32CD-3D05-12FC742C046E}"/>
              </a:ext>
            </a:extLst>
          </p:cNvPr>
          <p:cNvPicPr>
            <a:picLocks noChangeAspect="1"/>
          </p:cNvPicPr>
          <p:nvPr/>
        </p:nvPicPr>
        <p:blipFill>
          <a:blip r:embed="rId5"/>
          <a:srcRect l="64389" t="29014" b="25929"/>
          <a:stretch>
            <a:fillRect/>
          </a:stretch>
        </p:blipFill>
        <p:spPr>
          <a:xfrm>
            <a:off x="6212187" y="1987597"/>
            <a:ext cx="3653624" cy="252147"/>
          </a:xfrm>
          <a:prstGeom prst="rect">
            <a:avLst/>
          </a:prstGeom>
        </p:spPr>
      </p:pic>
    </p:spTree>
    <p:extLst>
      <p:ext uri="{BB962C8B-B14F-4D97-AF65-F5344CB8AC3E}">
        <p14:creationId xmlns:p14="http://schemas.microsoft.com/office/powerpoint/2010/main" val="1069433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4C042-1536-CB58-A0A5-3F19199007BB}"/>
              </a:ext>
            </a:extLst>
          </p:cNvPr>
          <p:cNvSpPr>
            <a:spLocks noGrp="1"/>
          </p:cNvSpPr>
          <p:nvPr>
            <p:ph type="title"/>
          </p:nvPr>
        </p:nvSpPr>
        <p:spPr>
          <a:xfrm>
            <a:off x="782541" y="62975"/>
            <a:ext cx="10515600" cy="1325563"/>
          </a:xfrm>
        </p:spPr>
        <p:txBody>
          <a:bodyPr/>
          <a:lstStyle/>
          <a:p>
            <a:r>
              <a:rPr lang="en-GB" dirty="0"/>
              <a:t>Customer Recovery &amp; Retention Strategy </a:t>
            </a:r>
            <a:endParaRPr lang="LID4096" dirty="0"/>
          </a:p>
        </p:txBody>
      </p:sp>
      <p:sp>
        <p:nvSpPr>
          <p:cNvPr id="4" name="TextBox 3">
            <a:extLst>
              <a:ext uri="{FF2B5EF4-FFF2-40B4-BE49-F238E27FC236}">
                <a16:creationId xmlns:a16="http://schemas.microsoft.com/office/drawing/2014/main" id="{9714A4C1-8077-4F53-55D6-4300873B7554}"/>
              </a:ext>
            </a:extLst>
          </p:cNvPr>
          <p:cNvSpPr txBox="1"/>
          <p:nvPr/>
        </p:nvSpPr>
        <p:spPr>
          <a:xfrm>
            <a:off x="893859" y="1010291"/>
            <a:ext cx="6702949" cy="400110"/>
          </a:xfrm>
          <a:prstGeom prst="rect">
            <a:avLst/>
          </a:prstGeom>
          <a:noFill/>
        </p:spPr>
        <p:txBody>
          <a:bodyPr wrap="square" rtlCol="0">
            <a:spAutoFit/>
          </a:bodyPr>
          <a:lstStyle/>
          <a:p>
            <a:r>
              <a:rPr lang="en-GB" sz="2000" dirty="0"/>
              <a:t>Three Focus Areas to Address Declining Customer Activity</a:t>
            </a:r>
            <a:endParaRPr lang="LID4096" sz="2000" dirty="0"/>
          </a:p>
        </p:txBody>
      </p:sp>
      <p:pic>
        <p:nvPicPr>
          <p:cNvPr id="8" name="Picture 7">
            <a:extLst>
              <a:ext uri="{FF2B5EF4-FFF2-40B4-BE49-F238E27FC236}">
                <a16:creationId xmlns:a16="http://schemas.microsoft.com/office/drawing/2014/main" id="{EDBEF2E5-FD8A-0F46-5A5C-7DEB9FF4F792}"/>
              </a:ext>
            </a:extLst>
          </p:cNvPr>
          <p:cNvPicPr>
            <a:picLocks noChangeAspect="1"/>
          </p:cNvPicPr>
          <p:nvPr/>
        </p:nvPicPr>
        <p:blipFill>
          <a:blip r:embed="rId3">
            <a:extLst>
              <a:ext uri="{28A0092B-C50C-407E-A947-70E740481C1C}">
                <a14:useLocalDpi xmlns:a14="http://schemas.microsoft.com/office/drawing/2010/main" val="0"/>
              </a:ext>
            </a:extLst>
          </a:blip>
          <a:srcRect t="30303" b="14234"/>
          <a:stretch>
            <a:fillRect/>
          </a:stretch>
        </p:blipFill>
        <p:spPr>
          <a:xfrm>
            <a:off x="1081708" y="1979874"/>
            <a:ext cx="10515600" cy="3888189"/>
          </a:xfrm>
          <a:prstGeom prst="rect">
            <a:avLst/>
          </a:prstGeom>
        </p:spPr>
      </p:pic>
      <p:pic>
        <p:nvPicPr>
          <p:cNvPr id="9" name="Picture 8">
            <a:extLst>
              <a:ext uri="{FF2B5EF4-FFF2-40B4-BE49-F238E27FC236}">
                <a16:creationId xmlns:a16="http://schemas.microsoft.com/office/drawing/2014/main" id="{27887DC8-93EA-EABB-9EBE-BAE7CEC8D8F2}"/>
              </a:ext>
            </a:extLst>
          </p:cNvPr>
          <p:cNvPicPr>
            <a:picLocks noChangeAspect="1"/>
          </p:cNvPicPr>
          <p:nvPr/>
        </p:nvPicPr>
        <p:blipFill>
          <a:blip r:embed="rId4">
            <a:extLst>
              <a:ext uri="{28A0092B-C50C-407E-A947-70E740481C1C}">
                <a14:useLocalDpi xmlns:a14="http://schemas.microsoft.com/office/drawing/2010/main" val="0"/>
              </a:ext>
            </a:extLst>
          </a:blip>
          <a:srcRect l="19333" t="28294" r="15796" b="37469"/>
          <a:stretch>
            <a:fillRect/>
          </a:stretch>
        </p:blipFill>
        <p:spPr>
          <a:xfrm>
            <a:off x="10639919" y="6311900"/>
            <a:ext cx="1552081" cy="546100"/>
          </a:xfrm>
          <a:prstGeom prst="rect">
            <a:avLst/>
          </a:prstGeom>
        </p:spPr>
      </p:pic>
    </p:spTree>
    <p:extLst>
      <p:ext uri="{BB962C8B-B14F-4D97-AF65-F5344CB8AC3E}">
        <p14:creationId xmlns:p14="http://schemas.microsoft.com/office/powerpoint/2010/main" val="2906581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C6F36-5C40-30A7-452B-6E67F7069873}"/>
              </a:ext>
            </a:extLst>
          </p:cNvPr>
          <p:cNvSpPr>
            <a:spLocks noGrp="1"/>
          </p:cNvSpPr>
          <p:nvPr>
            <p:ph type="title"/>
          </p:nvPr>
        </p:nvSpPr>
        <p:spPr>
          <a:xfrm>
            <a:off x="838199" y="60387"/>
            <a:ext cx="10515600" cy="1325563"/>
          </a:xfrm>
        </p:spPr>
        <p:txBody>
          <a:bodyPr/>
          <a:lstStyle/>
          <a:p>
            <a:r>
              <a:rPr lang="en-GB" dirty="0"/>
              <a:t>Segment Based Recovery &amp; Reactivation</a:t>
            </a:r>
            <a:endParaRPr lang="LID4096" dirty="0"/>
          </a:p>
        </p:txBody>
      </p:sp>
      <p:sp>
        <p:nvSpPr>
          <p:cNvPr id="3" name="Content Placeholder 2">
            <a:extLst>
              <a:ext uri="{FF2B5EF4-FFF2-40B4-BE49-F238E27FC236}">
                <a16:creationId xmlns:a16="http://schemas.microsoft.com/office/drawing/2014/main" id="{E008FEB7-CACF-5EF3-D0B8-61B12CC293B4}"/>
              </a:ext>
            </a:extLst>
          </p:cNvPr>
          <p:cNvSpPr>
            <a:spLocks noGrp="1"/>
          </p:cNvSpPr>
          <p:nvPr>
            <p:ph idx="1"/>
          </p:nvPr>
        </p:nvSpPr>
        <p:spPr>
          <a:xfrm>
            <a:off x="504244" y="1460100"/>
            <a:ext cx="3749703" cy="4349364"/>
          </a:xfrm>
        </p:spPr>
        <p:txBody>
          <a:bodyPr>
            <a:normAutofit/>
          </a:bodyPr>
          <a:lstStyle/>
          <a:p>
            <a:pPr marL="0" indent="0">
              <a:buNone/>
            </a:pPr>
            <a:r>
              <a:rPr lang="en-GB" sz="2000" b="1" dirty="0"/>
              <a:t>              At Risk (16%)</a:t>
            </a:r>
          </a:p>
          <a:p>
            <a:pPr marL="0" indent="0">
              <a:buNone/>
            </a:pPr>
            <a:r>
              <a:rPr lang="en-GB" sz="2000" dirty="0"/>
              <a:t>Declining Engagement, high recovery Potential</a:t>
            </a:r>
          </a:p>
          <a:p>
            <a:pPr marL="0" indent="0">
              <a:buNone/>
            </a:pPr>
            <a:r>
              <a:rPr lang="en-GB" sz="2000" b="1" dirty="0"/>
              <a:t>Actions:</a:t>
            </a:r>
          </a:p>
          <a:p>
            <a:r>
              <a:rPr lang="en-GB" sz="2000" dirty="0"/>
              <a:t>Personalised win-back campaigns</a:t>
            </a:r>
          </a:p>
          <a:p>
            <a:r>
              <a:rPr lang="en-GB" sz="2000" dirty="0"/>
              <a:t>Time sensitive offers</a:t>
            </a:r>
          </a:p>
          <a:p>
            <a:pPr marL="0" indent="0">
              <a:buNone/>
            </a:pPr>
            <a:r>
              <a:rPr lang="en-GB" sz="2000" b="1" dirty="0"/>
              <a:t>Impact:</a:t>
            </a:r>
          </a:p>
          <a:p>
            <a:pPr marL="0" indent="0">
              <a:buNone/>
            </a:pPr>
            <a:r>
              <a:rPr lang="en-GB" sz="2000" dirty="0"/>
              <a:t>15% At Risk segment reactivation would lead to up to 137M MMK monthly revenue recovery</a:t>
            </a:r>
            <a:endParaRPr lang="LID4096" sz="2000" dirty="0"/>
          </a:p>
        </p:txBody>
      </p:sp>
      <p:pic>
        <p:nvPicPr>
          <p:cNvPr id="4" name="Picture 3">
            <a:extLst>
              <a:ext uri="{FF2B5EF4-FFF2-40B4-BE49-F238E27FC236}">
                <a16:creationId xmlns:a16="http://schemas.microsoft.com/office/drawing/2014/main" id="{75644888-9DA2-2AE3-8573-31507836D2DA}"/>
              </a:ext>
            </a:extLst>
          </p:cNvPr>
          <p:cNvPicPr>
            <a:picLocks noChangeAspect="1"/>
          </p:cNvPicPr>
          <p:nvPr/>
        </p:nvPicPr>
        <p:blipFill>
          <a:blip r:embed="rId3">
            <a:extLst>
              <a:ext uri="{28A0092B-C50C-407E-A947-70E740481C1C}">
                <a14:useLocalDpi xmlns:a14="http://schemas.microsoft.com/office/drawing/2010/main" val="0"/>
              </a:ext>
            </a:extLst>
          </a:blip>
          <a:srcRect l="19333" t="28294" r="15796" b="37469"/>
          <a:stretch>
            <a:fillRect/>
          </a:stretch>
        </p:blipFill>
        <p:spPr>
          <a:xfrm>
            <a:off x="10639919" y="6311900"/>
            <a:ext cx="1552081" cy="546100"/>
          </a:xfrm>
          <a:prstGeom prst="rect">
            <a:avLst/>
          </a:prstGeom>
        </p:spPr>
      </p:pic>
      <p:sp>
        <p:nvSpPr>
          <p:cNvPr id="5" name="Content Placeholder 2">
            <a:extLst>
              <a:ext uri="{FF2B5EF4-FFF2-40B4-BE49-F238E27FC236}">
                <a16:creationId xmlns:a16="http://schemas.microsoft.com/office/drawing/2014/main" id="{1E4B65CE-9226-B60C-D22A-5FE4824B3824}"/>
              </a:ext>
            </a:extLst>
          </p:cNvPr>
          <p:cNvSpPr txBox="1">
            <a:spLocks/>
          </p:cNvSpPr>
          <p:nvPr/>
        </p:nvSpPr>
        <p:spPr>
          <a:xfrm>
            <a:off x="4221148" y="1410667"/>
            <a:ext cx="3749703" cy="468718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dirty="0"/>
              <a:t>             Can’t Lose Them (8%)</a:t>
            </a:r>
          </a:p>
          <a:p>
            <a:pPr marL="0" indent="0">
              <a:buFont typeface="Arial" panose="020B0604020202020204" pitchFamily="34" charset="0"/>
              <a:buNone/>
            </a:pPr>
            <a:r>
              <a:rPr lang="en-GB" sz="2000" dirty="0"/>
              <a:t>Previously high-value customers</a:t>
            </a:r>
          </a:p>
          <a:p>
            <a:pPr marL="0" indent="0">
              <a:buFont typeface="Arial" panose="020B0604020202020204" pitchFamily="34" charset="0"/>
              <a:buNone/>
            </a:pPr>
            <a:r>
              <a:rPr lang="en-GB" sz="2000" b="1" dirty="0"/>
              <a:t>Actions:</a:t>
            </a:r>
          </a:p>
          <a:p>
            <a:r>
              <a:rPr lang="en-GB" sz="2000" dirty="0"/>
              <a:t>High touch outreach (personalised emails, account management)</a:t>
            </a:r>
          </a:p>
          <a:p>
            <a:r>
              <a:rPr lang="en-GB" sz="2000" dirty="0"/>
              <a:t>Exclusive offers</a:t>
            </a:r>
          </a:p>
          <a:p>
            <a:r>
              <a:rPr lang="en-GB" sz="2000" dirty="0"/>
              <a:t>Priority reactivation marketing campaign </a:t>
            </a:r>
          </a:p>
          <a:p>
            <a:pPr marL="0" indent="0">
              <a:buFont typeface="Arial" panose="020B0604020202020204" pitchFamily="34" charset="0"/>
              <a:buNone/>
            </a:pPr>
            <a:r>
              <a:rPr lang="en-GB" sz="2000" b="1" dirty="0"/>
              <a:t>Impact:</a:t>
            </a:r>
          </a:p>
          <a:p>
            <a:pPr marL="0" indent="0">
              <a:buFont typeface="Arial" panose="020B0604020202020204" pitchFamily="34" charset="0"/>
              <a:buNone/>
            </a:pPr>
            <a:r>
              <a:rPr lang="en-GB" sz="2000" dirty="0"/>
              <a:t>10% recovery would lead to up to 85M MMK monthly revenue recovery (~2% total June revenue)</a:t>
            </a:r>
            <a:endParaRPr lang="LID4096" sz="2000" dirty="0"/>
          </a:p>
        </p:txBody>
      </p:sp>
      <p:sp>
        <p:nvSpPr>
          <p:cNvPr id="6" name="Content Placeholder 2">
            <a:extLst>
              <a:ext uri="{FF2B5EF4-FFF2-40B4-BE49-F238E27FC236}">
                <a16:creationId xmlns:a16="http://schemas.microsoft.com/office/drawing/2014/main" id="{F8F85D98-D4F9-4331-B828-55E5B5F50AA4}"/>
              </a:ext>
            </a:extLst>
          </p:cNvPr>
          <p:cNvSpPr txBox="1">
            <a:spLocks/>
          </p:cNvSpPr>
          <p:nvPr/>
        </p:nvSpPr>
        <p:spPr>
          <a:xfrm>
            <a:off x="8267369" y="1430719"/>
            <a:ext cx="3749703" cy="46871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dirty="0"/>
              <a:t>              Hibernating (17%)</a:t>
            </a:r>
          </a:p>
          <a:p>
            <a:pPr marL="0" indent="0">
              <a:buFont typeface="Arial" panose="020B0604020202020204" pitchFamily="34" charset="0"/>
              <a:buNone/>
            </a:pPr>
            <a:r>
              <a:rPr lang="en-GB" sz="2000" dirty="0"/>
              <a:t>Low engagement, low recovery potential</a:t>
            </a:r>
          </a:p>
          <a:p>
            <a:pPr marL="0" indent="0">
              <a:buFont typeface="Arial" panose="020B0604020202020204" pitchFamily="34" charset="0"/>
              <a:buNone/>
            </a:pPr>
            <a:r>
              <a:rPr lang="en-GB" sz="2000" b="1" dirty="0"/>
              <a:t>Actions:</a:t>
            </a:r>
          </a:p>
          <a:p>
            <a:r>
              <a:rPr lang="en-GB" sz="2000" dirty="0"/>
              <a:t>Low-cost reactivation (email, ad, reminder)</a:t>
            </a:r>
          </a:p>
          <a:p>
            <a:r>
              <a:rPr lang="en-GB" sz="2000" dirty="0"/>
              <a:t>Broad campaigns (e.g. seasonal)</a:t>
            </a:r>
          </a:p>
          <a:p>
            <a:pPr marL="0" indent="0">
              <a:buFont typeface="Arial" panose="020B0604020202020204" pitchFamily="34" charset="0"/>
              <a:buNone/>
            </a:pPr>
            <a:r>
              <a:rPr lang="en-GB" sz="2000" b="1" dirty="0"/>
              <a:t>Impact:</a:t>
            </a:r>
          </a:p>
          <a:p>
            <a:pPr marL="0" indent="0">
              <a:buFont typeface="Arial" panose="020B0604020202020204" pitchFamily="34" charset="0"/>
              <a:buNone/>
            </a:pPr>
            <a:r>
              <a:rPr lang="en-GB" sz="2000" dirty="0"/>
              <a:t>5% reactivation would lead to up to 46M MMK monthly revenue recovery</a:t>
            </a:r>
            <a:endParaRPr lang="LID4096" sz="2000" dirty="0"/>
          </a:p>
        </p:txBody>
      </p:sp>
      <p:sp>
        <p:nvSpPr>
          <p:cNvPr id="7" name="TextBox 6">
            <a:extLst>
              <a:ext uri="{FF2B5EF4-FFF2-40B4-BE49-F238E27FC236}">
                <a16:creationId xmlns:a16="http://schemas.microsoft.com/office/drawing/2014/main" id="{47E05DB7-10D9-6A46-01C4-186949E052B3}"/>
              </a:ext>
            </a:extLst>
          </p:cNvPr>
          <p:cNvSpPr txBox="1"/>
          <p:nvPr/>
        </p:nvSpPr>
        <p:spPr>
          <a:xfrm>
            <a:off x="2280368" y="6097851"/>
            <a:ext cx="7631264" cy="369332"/>
          </a:xfrm>
          <a:prstGeom prst="rect">
            <a:avLst/>
          </a:prstGeom>
          <a:noFill/>
        </p:spPr>
        <p:txBody>
          <a:bodyPr wrap="square" rtlCol="0">
            <a:spAutoFit/>
          </a:bodyPr>
          <a:lstStyle/>
          <a:p>
            <a:r>
              <a:rPr lang="en-GB" b="1" dirty="0"/>
              <a:t>Total Potential Revenue Recovery - ~270M MMK (4.5-5% June revenue)</a:t>
            </a:r>
            <a:endParaRPr lang="LID4096" b="1" dirty="0"/>
          </a:p>
        </p:txBody>
      </p:sp>
      <p:pic>
        <p:nvPicPr>
          <p:cNvPr id="13" name="Picture 12">
            <a:extLst>
              <a:ext uri="{FF2B5EF4-FFF2-40B4-BE49-F238E27FC236}">
                <a16:creationId xmlns:a16="http://schemas.microsoft.com/office/drawing/2014/main" id="{95C4D345-1C32-E571-14F3-E8610D0887B2}"/>
              </a:ext>
            </a:extLst>
          </p:cNvPr>
          <p:cNvPicPr>
            <a:picLocks noChangeAspect="1"/>
          </p:cNvPicPr>
          <p:nvPr/>
        </p:nvPicPr>
        <p:blipFill>
          <a:blip r:embed="rId4">
            <a:extLst>
              <a:ext uri="{28A0092B-C50C-407E-A947-70E740481C1C}">
                <a14:useLocalDpi xmlns:a14="http://schemas.microsoft.com/office/drawing/2010/main" val="0"/>
              </a:ext>
            </a:extLst>
          </a:blip>
          <a:srcRect l="12672" t="31453" r="67708" b="36001"/>
          <a:stretch>
            <a:fillRect/>
          </a:stretch>
        </p:blipFill>
        <p:spPr>
          <a:xfrm>
            <a:off x="625833" y="1125200"/>
            <a:ext cx="695077" cy="768665"/>
          </a:xfrm>
          <a:prstGeom prst="rect">
            <a:avLst/>
          </a:prstGeom>
        </p:spPr>
      </p:pic>
      <p:pic>
        <p:nvPicPr>
          <p:cNvPr id="14" name="Picture 13">
            <a:extLst>
              <a:ext uri="{FF2B5EF4-FFF2-40B4-BE49-F238E27FC236}">
                <a16:creationId xmlns:a16="http://schemas.microsoft.com/office/drawing/2014/main" id="{B6894321-77C4-F256-43F9-B43ED9CA05F7}"/>
              </a:ext>
            </a:extLst>
          </p:cNvPr>
          <p:cNvPicPr>
            <a:picLocks noChangeAspect="1"/>
          </p:cNvPicPr>
          <p:nvPr/>
        </p:nvPicPr>
        <p:blipFill>
          <a:blip r:embed="rId4">
            <a:extLst>
              <a:ext uri="{28A0092B-C50C-407E-A947-70E740481C1C}">
                <a14:useLocalDpi xmlns:a14="http://schemas.microsoft.com/office/drawing/2010/main" val="0"/>
              </a:ext>
            </a:extLst>
          </a:blip>
          <a:srcRect l="39643" t="29705" r="39035" b="36628"/>
          <a:stretch>
            <a:fillRect/>
          </a:stretch>
        </p:blipFill>
        <p:spPr>
          <a:xfrm>
            <a:off x="4253947" y="1013102"/>
            <a:ext cx="755373" cy="795130"/>
          </a:xfrm>
          <a:prstGeom prst="rect">
            <a:avLst/>
          </a:prstGeom>
        </p:spPr>
      </p:pic>
      <p:pic>
        <p:nvPicPr>
          <p:cNvPr id="15" name="Picture 14">
            <a:extLst>
              <a:ext uri="{FF2B5EF4-FFF2-40B4-BE49-F238E27FC236}">
                <a16:creationId xmlns:a16="http://schemas.microsoft.com/office/drawing/2014/main" id="{17687760-0760-C786-9531-5132381F8455}"/>
              </a:ext>
            </a:extLst>
          </p:cNvPr>
          <p:cNvPicPr>
            <a:picLocks noChangeAspect="1"/>
          </p:cNvPicPr>
          <p:nvPr/>
        </p:nvPicPr>
        <p:blipFill>
          <a:blip r:embed="rId4">
            <a:extLst>
              <a:ext uri="{28A0092B-C50C-407E-A947-70E740481C1C}">
                <a14:useLocalDpi xmlns:a14="http://schemas.microsoft.com/office/drawing/2010/main" val="0"/>
              </a:ext>
            </a:extLst>
          </a:blip>
          <a:srcRect l="70846" t="35182" r="5139" b="32919"/>
          <a:stretch>
            <a:fillRect/>
          </a:stretch>
        </p:blipFill>
        <p:spPr>
          <a:xfrm>
            <a:off x="8267369" y="1236722"/>
            <a:ext cx="850790" cy="753386"/>
          </a:xfrm>
          <a:prstGeom prst="rect">
            <a:avLst/>
          </a:prstGeom>
        </p:spPr>
      </p:pic>
    </p:spTree>
    <p:extLst>
      <p:ext uri="{BB962C8B-B14F-4D97-AF65-F5344CB8AC3E}">
        <p14:creationId xmlns:p14="http://schemas.microsoft.com/office/powerpoint/2010/main" val="1390321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43882-923C-4168-751B-1439B63C7FD4}"/>
              </a:ext>
            </a:extLst>
          </p:cNvPr>
          <p:cNvSpPr>
            <a:spLocks noGrp="1"/>
          </p:cNvSpPr>
          <p:nvPr>
            <p:ph type="title"/>
          </p:nvPr>
        </p:nvSpPr>
        <p:spPr>
          <a:xfrm>
            <a:off x="838199" y="8157"/>
            <a:ext cx="10515600" cy="1325563"/>
          </a:xfrm>
        </p:spPr>
        <p:txBody>
          <a:bodyPr/>
          <a:lstStyle/>
          <a:p>
            <a:r>
              <a:rPr lang="en-GB" dirty="0"/>
              <a:t>Early Detection of Customer Churn</a:t>
            </a:r>
            <a:endParaRPr lang="LID4096" dirty="0"/>
          </a:p>
        </p:txBody>
      </p:sp>
      <p:pic>
        <p:nvPicPr>
          <p:cNvPr id="4" name="Picture 3">
            <a:extLst>
              <a:ext uri="{FF2B5EF4-FFF2-40B4-BE49-F238E27FC236}">
                <a16:creationId xmlns:a16="http://schemas.microsoft.com/office/drawing/2014/main" id="{4CEFE3F0-4543-7033-FE41-415A3B0D267B}"/>
              </a:ext>
            </a:extLst>
          </p:cNvPr>
          <p:cNvPicPr>
            <a:picLocks noChangeAspect="1"/>
          </p:cNvPicPr>
          <p:nvPr/>
        </p:nvPicPr>
        <p:blipFill>
          <a:blip r:embed="rId3">
            <a:extLst>
              <a:ext uri="{28A0092B-C50C-407E-A947-70E740481C1C}">
                <a14:useLocalDpi xmlns:a14="http://schemas.microsoft.com/office/drawing/2010/main" val="0"/>
              </a:ext>
            </a:extLst>
          </a:blip>
          <a:srcRect l="19333" t="28294" r="15796" b="37469"/>
          <a:stretch>
            <a:fillRect/>
          </a:stretch>
        </p:blipFill>
        <p:spPr>
          <a:xfrm>
            <a:off x="10639919" y="6311900"/>
            <a:ext cx="1552081" cy="546100"/>
          </a:xfrm>
          <a:prstGeom prst="rect">
            <a:avLst/>
          </a:prstGeom>
        </p:spPr>
      </p:pic>
      <p:sp>
        <p:nvSpPr>
          <p:cNvPr id="5" name="Content Placeholder 2">
            <a:extLst>
              <a:ext uri="{FF2B5EF4-FFF2-40B4-BE49-F238E27FC236}">
                <a16:creationId xmlns:a16="http://schemas.microsoft.com/office/drawing/2014/main" id="{26F831BB-608E-9C72-FF87-262D125B3051}"/>
              </a:ext>
            </a:extLst>
          </p:cNvPr>
          <p:cNvSpPr txBox="1">
            <a:spLocks/>
          </p:cNvSpPr>
          <p:nvPr/>
        </p:nvSpPr>
        <p:spPr>
          <a:xfrm>
            <a:off x="438647" y="3156665"/>
            <a:ext cx="3749703" cy="21945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dirty="0"/>
              <a:t>Identify Early Warning Signs</a:t>
            </a:r>
          </a:p>
          <a:p>
            <a:pPr marL="0" indent="0">
              <a:buFont typeface="Arial" panose="020B0604020202020204" pitchFamily="34" charset="0"/>
              <a:buNone/>
            </a:pPr>
            <a:endParaRPr lang="en-GB" sz="2000" b="1" dirty="0"/>
          </a:p>
          <a:p>
            <a:r>
              <a:rPr lang="en-GB" sz="2000" dirty="0"/>
              <a:t>Increase in Recency</a:t>
            </a:r>
          </a:p>
          <a:p>
            <a:r>
              <a:rPr lang="en-GB" sz="2000" dirty="0"/>
              <a:t>Drop in purchase Frequency</a:t>
            </a:r>
          </a:p>
          <a:p>
            <a:r>
              <a:rPr lang="en-GB" sz="2000" dirty="0"/>
              <a:t>Declining Engagement</a:t>
            </a:r>
          </a:p>
        </p:txBody>
      </p:sp>
      <p:sp>
        <p:nvSpPr>
          <p:cNvPr id="8" name="Content Placeholder 2">
            <a:extLst>
              <a:ext uri="{FF2B5EF4-FFF2-40B4-BE49-F238E27FC236}">
                <a16:creationId xmlns:a16="http://schemas.microsoft.com/office/drawing/2014/main" id="{87932B7C-7BE5-8259-DC67-12F9CE867CD5}"/>
              </a:ext>
            </a:extLst>
          </p:cNvPr>
          <p:cNvSpPr txBox="1">
            <a:spLocks/>
          </p:cNvSpPr>
          <p:nvPr/>
        </p:nvSpPr>
        <p:spPr>
          <a:xfrm>
            <a:off x="4188350" y="3156666"/>
            <a:ext cx="3980291" cy="25126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dirty="0"/>
              <a:t>Trigger Automated Interventions</a:t>
            </a:r>
          </a:p>
          <a:p>
            <a:pPr marL="0" indent="0">
              <a:buFont typeface="Arial" panose="020B0604020202020204" pitchFamily="34" charset="0"/>
              <a:buNone/>
            </a:pPr>
            <a:endParaRPr lang="en-GB" sz="2000" b="1" dirty="0"/>
          </a:p>
          <a:p>
            <a:r>
              <a:rPr lang="en-GB" sz="2000" dirty="0"/>
              <a:t>Email reminders after inactivity threshold</a:t>
            </a:r>
          </a:p>
          <a:p>
            <a:r>
              <a:rPr lang="en-GB" sz="2000" dirty="0"/>
              <a:t>Personalised offers based on past purchase behaviour</a:t>
            </a:r>
          </a:p>
          <a:p>
            <a:endParaRPr lang="en-GB" sz="2000" dirty="0"/>
          </a:p>
        </p:txBody>
      </p:sp>
      <p:sp>
        <p:nvSpPr>
          <p:cNvPr id="9" name="Content Placeholder 2">
            <a:extLst>
              <a:ext uri="{FF2B5EF4-FFF2-40B4-BE49-F238E27FC236}">
                <a16:creationId xmlns:a16="http://schemas.microsoft.com/office/drawing/2014/main" id="{52F118F8-C2BF-5F36-366E-A7757AB7C416}"/>
              </a:ext>
            </a:extLst>
          </p:cNvPr>
          <p:cNvSpPr txBox="1">
            <a:spLocks/>
          </p:cNvSpPr>
          <p:nvPr/>
        </p:nvSpPr>
        <p:spPr>
          <a:xfrm>
            <a:off x="8327667" y="3156666"/>
            <a:ext cx="3749703" cy="21945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dirty="0"/>
              <a:t>Continuous Monitoring</a:t>
            </a:r>
          </a:p>
          <a:p>
            <a:pPr marL="0" indent="0">
              <a:buFont typeface="Arial" panose="020B0604020202020204" pitchFamily="34" charset="0"/>
              <a:buNone/>
            </a:pPr>
            <a:endParaRPr lang="en-GB" sz="2000" b="1" dirty="0"/>
          </a:p>
          <a:p>
            <a:r>
              <a:rPr lang="en-GB" sz="2000" dirty="0"/>
              <a:t>Track segment migration</a:t>
            </a:r>
          </a:p>
          <a:p>
            <a:r>
              <a:rPr lang="en-GB" sz="2000" dirty="0"/>
              <a:t>Identify drop offs early</a:t>
            </a:r>
          </a:p>
          <a:p>
            <a:r>
              <a:rPr lang="en-GB" sz="2000" dirty="0"/>
              <a:t>Measure intervention success</a:t>
            </a:r>
          </a:p>
        </p:txBody>
      </p:sp>
      <p:pic>
        <p:nvPicPr>
          <p:cNvPr id="11" name="Picture 10">
            <a:extLst>
              <a:ext uri="{FF2B5EF4-FFF2-40B4-BE49-F238E27FC236}">
                <a16:creationId xmlns:a16="http://schemas.microsoft.com/office/drawing/2014/main" id="{3C531A91-44CF-708E-412D-D03EB10EE4DB}"/>
              </a:ext>
            </a:extLst>
          </p:cNvPr>
          <p:cNvPicPr>
            <a:picLocks noChangeAspect="1"/>
          </p:cNvPicPr>
          <p:nvPr/>
        </p:nvPicPr>
        <p:blipFill>
          <a:blip r:embed="rId4">
            <a:extLst>
              <a:ext uri="{28A0092B-C50C-407E-A947-70E740481C1C}">
                <a14:useLocalDpi xmlns:a14="http://schemas.microsoft.com/office/drawing/2010/main" val="0"/>
              </a:ext>
            </a:extLst>
          </a:blip>
          <a:srcRect l="6732" t="28360" r="67168" b="36374"/>
          <a:stretch>
            <a:fillRect/>
          </a:stretch>
        </p:blipFill>
        <p:spPr>
          <a:xfrm>
            <a:off x="1045099" y="1109327"/>
            <a:ext cx="2109582" cy="1900362"/>
          </a:xfrm>
          <a:prstGeom prst="rect">
            <a:avLst/>
          </a:prstGeom>
        </p:spPr>
      </p:pic>
      <p:pic>
        <p:nvPicPr>
          <p:cNvPr id="12" name="Picture 11">
            <a:extLst>
              <a:ext uri="{FF2B5EF4-FFF2-40B4-BE49-F238E27FC236}">
                <a16:creationId xmlns:a16="http://schemas.microsoft.com/office/drawing/2014/main" id="{A40DBEAA-DFE7-5C02-EA04-6D574C93BC44}"/>
              </a:ext>
            </a:extLst>
          </p:cNvPr>
          <p:cNvPicPr>
            <a:picLocks noChangeAspect="1"/>
          </p:cNvPicPr>
          <p:nvPr/>
        </p:nvPicPr>
        <p:blipFill>
          <a:blip r:embed="rId4">
            <a:extLst>
              <a:ext uri="{28A0092B-C50C-407E-A947-70E740481C1C}">
                <a14:useLocalDpi xmlns:a14="http://schemas.microsoft.com/office/drawing/2010/main" val="0"/>
              </a:ext>
            </a:extLst>
          </a:blip>
          <a:srcRect l="68133" t="25415" r="1650" b="31970"/>
          <a:stretch>
            <a:fillRect/>
          </a:stretch>
        </p:blipFill>
        <p:spPr>
          <a:xfrm>
            <a:off x="8633499" y="860323"/>
            <a:ext cx="2442376" cy="2296342"/>
          </a:xfrm>
          <a:prstGeom prst="rect">
            <a:avLst/>
          </a:prstGeom>
        </p:spPr>
      </p:pic>
      <p:pic>
        <p:nvPicPr>
          <p:cNvPr id="13" name="Picture 12">
            <a:extLst>
              <a:ext uri="{FF2B5EF4-FFF2-40B4-BE49-F238E27FC236}">
                <a16:creationId xmlns:a16="http://schemas.microsoft.com/office/drawing/2014/main" id="{6F71104F-5110-267B-B5D0-9BACF93B01A4}"/>
              </a:ext>
            </a:extLst>
          </p:cNvPr>
          <p:cNvPicPr>
            <a:picLocks noChangeAspect="1"/>
          </p:cNvPicPr>
          <p:nvPr/>
        </p:nvPicPr>
        <p:blipFill>
          <a:blip r:embed="rId4">
            <a:extLst>
              <a:ext uri="{28A0092B-C50C-407E-A947-70E740481C1C}">
                <a14:useLocalDpi xmlns:a14="http://schemas.microsoft.com/office/drawing/2010/main" val="0"/>
              </a:ext>
            </a:extLst>
          </a:blip>
          <a:srcRect l="36542" t="31090" r="37359" b="33644"/>
          <a:stretch>
            <a:fillRect/>
          </a:stretch>
        </p:blipFill>
        <p:spPr>
          <a:xfrm>
            <a:off x="5041208" y="1221524"/>
            <a:ext cx="2109582" cy="1900362"/>
          </a:xfrm>
          <a:prstGeom prst="rect">
            <a:avLst/>
          </a:prstGeom>
        </p:spPr>
      </p:pic>
    </p:spTree>
    <p:extLst>
      <p:ext uri="{BB962C8B-B14F-4D97-AF65-F5344CB8AC3E}">
        <p14:creationId xmlns:p14="http://schemas.microsoft.com/office/powerpoint/2010/main" val="4219388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4638-3B7D-C60B-6C50-E64560E49CA5}"/>
              </a:ext>
            </a:extLst>
          </p:cNvPr>
          <p:cNvSpPr>
            <a:spLocks noGrp="1"/>
          </p:cNvSpPr>
          <p:nvPr>
            <p:ph type="title"/>
          </p:nvPr>
        </p:nvSpPr>
        <p:spPr/>
        <p:txBody>
          <a:bodyPr/>
          <a:lstStyle/>
          <a:p>
            <a:r>
              <a:rPr lang="en-GB" dirty="0"/>
              <a:t>Regional Growth Focus</a:t>
            </a:r>
            <a:endParaRPr lang="LID4096" dirty="0"/>
          </a:p>
        </p:txBody>
      </p:sp>
      <p:sp>
        <p:nvSpPr>
          <p:cNvPr id="3" name="Content Placeholder 2">
            <a:extLst>
              <a:ext uri="{FF2B5EF4-FFF2-40B4-BE49-F238E27FC236}">
                <a16:creationId xmlns:a16="http://schemas.microsoft.com/office/drawing/2014/main" id="{BF9ABF19-A7B6-C5F8-B770-6C9BEFA54FD4}"/>
              </a:ext>
            </a:extLst>
          </p:cNvPr>
          <p:cNvSpPr>
            <a:spLocks noGrp="1"/>
          </p:cNvSpPr>
          <p:nvPr>
            <p:ph idx="1"/>
          </p:nvPr>
        </p:nvSpPr>
        <p:spPr>
          <a:xfrm>
            <a:off x="838200" y="1825625"/>
            <a:ext cx="5491038" cy="3827752"/>
          </a:xfrm>
        </p:spPr>
        <p:txBody>
          <a:bodyPr>
            <a:normAutofit/>
          </a:bodyPr>
          <a:lstStyle/>
          <a:p>
            <a:r>
              <a:rPr lang="en-GB" sz="2000" b="1" dirty="0"/>
              <a:t>Mandalay – core growth driver</a:t>
            </a:r>
          </a:p>
          <a:p>
            <a:pPr lvl="1"/>
            <a:r>
              <a:rPr lang="en-GB" sz="1600" dirty="0"/>
              <a:t>Double down on acquisition and retention strategies</a:t>
            </a:r>
          </a:p>
          <a:p>
            <a:pPr lvl="1"/>
            <a:r>
              <a:rPr lang="en-GB" sz="1600" dirty="0"/>
              <a:t>use as benchmark for other regions</a:t>
            </a:r>
            <a:endParaRPr lang="en-GB" sz="2000" b="1" dirty="0"/>
          </a:p>
          <a:p>
            <a:pPr>
              <a:spcBef>
                <a:spcPts val="2400"/>
              </a:spcBef>
            </a:pPr>
            <a:r>
              <a:rPr lang="en-GB" sz="2000" b="1" dirty="0"/>
              <a:t>Bago &amp; Taunggyi – stable contributors</a:t>
            </a:r>
          </a:p>
          <a:p>
            <a:pPr lvl="1"/>
            <a:r>
              <a:rPr lang="en-GB" sz="1600" dirty="0"/>
              <a:t>Improve conversion and purchase frequency</a:t>
            </a:r>
          </a:p>
          <a:p>
            <a:pPr>
              <a:spcBef>
                <a:spcPts val="2400"/>
              </a:spcBef>
            </a:pPr>
            <a:r>
              <a:rPr lang="en-GB" sz="2000" b="1" dirty="0"/>
              <a:t>Naypyitaw – moderate potential</a:t>
            </a:r>
          </a:p>
          <a:p>
            <a:pPr lvl="1"/>
            <a:r>
              <a:rPr lang="en-GB" sz="1600" dirty="0"/>
              <a:t>Improve conversion and purchase frequency</a:t>
            </a:r>
          </a:p>
          <a:p>
            <a:pPr>
              <a:spcBef>
                <a:spcPts val="2400"/>
              </a:spcBef>
            </a:pPr>
            <a:r>
              <a:rPr lang="en-GB" sz="2000" b="1" dirty="0"/>
              <a:t>Yangon – underperforming market</a:t>
            </a:r>
          </a:p>
          <a:p>
            <a:pPr lvl="1"/>
            <a:r>
              <a:rPr lang="en-GB" sz="1600" dirty="0"/>
              <a:t>Investigate customer behaviour &amp; pricing</a:t>
            </a:r>
          </a:p>
          <a:p>
            <a:pPr lvl="1"/>
            <a:r>
              <a:rPr lang="en-GB" sz="1600" dirty="0"/>
              <a:t>Target high value segments</a:t>
            </a:r>
          </a:p>
        </p:txBody>
      </p:sp>
      <p:pic>
        <p:nvPicPr>
          <p:cNvPr id="5" name="Picture 4">
            <a:extLst>
              <a:ext uri="{FF2B5EF4-FFF2-40B4-BE49-F238E27FC236}">
                <a16:creationId xmlns:a16="http://schemas.microsoft.com/office/drawing/2014/main" id="{03238977-5505-B278-F42A-47CD38E62E0D}"/>
              </a:ext>
            </a:extLst>
          </p:cNvPr>
          <p:cNvPicPr>
            <a:picLocks noChangeAspect="1"/>
          </p:cNvPicPr>
          <p:nvPr/>
        </p:nvPicPr>
        <p:blipFill>
          <a:blip r:embed="rId3">
            <a:extLst>
              <a:ext uri="{28A0092B-C50C-407E-A947-70E740481C1C}">
                <a14:useLocalDpi xmlns:a14="http://schemas.microsoft.com/office/drawing/2010/main" val="0"/>
              </a:ext>
            </a:extLst>
          </a:blip>
          <a:srcRect l="19333" t="28294" r="15796" b="37469"/>
          <a:stretch>
            <a:fillRect/>
          </a:stretch>
        </p:blipFill>
        <p:spPr>
          <a:xfrm>
            <a:off x="10639919" y="6311900"/>
            <a:ext cx="1552081" cy="546100"/>
          </a:xfrm>
          <a:prstGeom prst="rect">
            <a:avLst/>
          </a:prstGeom>
        </p:spPr>
      </p:pic>
      <p:pic>
        <p:nvPicPr>
          <p:cNvPr id="9" name="Picture 8">
            <a:extLst>
              <a:ext uri="{FF2B5EF4-FFF2-40B4-BE49-F238E27FC236}">
                <a16:creationId xmlns:a16="http://schemas.microsoft.com/office/drawing/2014/main" id="{E34E65C2-0E7E-B5D7-60DC-75AF736C040A}"/>
              </a:ext>
            </a:extLst>
          </p:cNvPr>
          <p:cNvPicPr>
            <a:picLocks noChangeAspect="1"/>
          </p:cNvPicPr>
          <p:nvPr/>
        </p:nvPicPr>
        <p:blipFill>
          <a:blip r:embed="rId4"/>
          <a:stretch>
            <a:fillRect/>
          </a:stretch>
        </p:blipFill>
        <p:spPr>
          <a:xfrm>
            <a:off x="6234233" y="1463040"/>
            <a:ext cx="5814926" cy="4496462"/>
          </a:xfrm>
          <a:prstGeom prst="rect">
            <a:avLst/>
          </a:prstGeom>
        </p:spPr>
      </p:pic>
    </p:spTree>
    <p:extLst>
      <p:ext uri="{BB962C8B-B14F-4D97-AF65-F5344CB8AC3E}">
        <p14:creationId xmlns:p14="http://schemas.microsoft.com/office/powerpoint/2010/main" val="2639337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8FD98-2D8B-4A72-EB8B-EFF274781881}"/>
              </a:ext>
            </a:extLst>
          </p:cNvPr>
          <p:cNvSpPr>
            <a:spLocks noGrp="1"/>
          </p:cNvSpPr>
          <p:nvPr>
            <p:ph type="title"/>
          </p:nvPr>
        </p:nvSpPr>
        <p:spPr>
          <a:xfrm>
            <a:off x="838200" y="190197"/>
            <a:ext cx="10515600" cy="1325563"/>
          </a:xfrm>
        </p:spPr>
        <p:txBody>
          <a:bodyPr/>
          <a:lstStyle/>
          <a:p>
            <a:r>
              <a:rPr lang="en-GB" dirty="0"/>
              <a:t>Final Takeaways</a:t>
            </a:r>
            <a:endParaRPr lang="LID4096" dirty="0"/>
          </a:p>
        </p:txBody>
      </p:sp>
      <p:pic>
        <p:nvPicPr>
          <p:cNvPr id="5" name="Picture 4">
            <a:extLst>
              <a:ext uri="{FF2B5EF4-FFF2-40B4-BE49-F238E27FC236}">
                <a16:creationId xmlns:a16="http://schemas.microsoft.com/office/drawing/2014/main" id="{61959D25-F8C4-F4C4-02AD-0EFEDA57742D}"/>
              </a:ext>
            </a:extLst>
          </p:cNvPr>
          <p:cNvPicPr>
            <a:picLocks noChangeAspect="1"/>
          </p:cNvPicPr>
          <p:nvPr/>
        </p:nvPicPr>
        <p:blipFill>
          <a:blip r:embed="rId2">
            <a:extLst>
              <a:ext uri="{28A0092B-C50C-407E-A947-70E740481C1C}">
                <a14:useLocalDpi xmlns:a14="http://schemas.microsoft.com/office/drawing/2010/main" val="0"/>
              </a:ext>
            </a:extLst>
          </a:blip>
          <a:srcRect l="19333" t="28294" r="15796" b="37469"/>
          <a:stretch>
            <a:fillRect/>
          </a:stretch>
        </p:blipFill>
        <p:spPr>
          <a:xfrm>
            <a:off x="10639919" y="6311900"/>
            <a:ext cx="1552081" cy="546100"/>
          </a:xfrm>
          <a:prstGeom prst="rect">
            <a:avLst/>
          </a:prstGeom>
        </p:spPr>
      </p:pic>
      <p:sp>
        <p:nvSpPr>
          <p:cNvPr id="6" name="TextBox 5">
            <a:extLst>
              <a:ext uri="{FF2B5EF4-FFF2-40B4-BE49-F238E27FC236}">
                <a16:creationId xmlns:a16="http://schemas.microsoft.com/office/drawing/2014/main" id="{70BBFE92-8B82-3610-403A-8082265A121E}"/>
              </a:ext>
            </a:extLst>
          </p:cNvPr>
          <p:cNvSpPr txBox="1"/>
          <p:nvPr/>
        </p:nvSpPr>
        <p:spPr>
          <a:xfrm>
            <a:off x="1828800" y="2096205"/>
            <a:ext cx="10022618" cy="3477875"/>
          </a:xfrm>
          <a:prstGeom prst="rect">
            <a:avLst/>
          </a:prstGeom>
          <a:noFill/>
        </p:spPr>
        <p:txBody>
          <a:bodyPr wrap="square" rtlCol="0">
            <a:spAutoFit/>
          </a:bodyPr>
          <a:lstStyle/>
          <a:p>
            <a:pPr>
              <a:spcBef>
                <a:spcPts val="3000"/>
              </a:spcBef>
            </a:pPr>
            <a:r>
              <a:rPr lang="en-GB" altLang="LID4096" sz="2400" dirty="0">
                <a:latin typeface="Arial" panose="020B0604020202020204" pitchFamily="34" charset="0"/>
              </a:rPr>
              <a:t>Revenue decline is driven my falling customer activity, not spending </a:t>
            </a:r>
          </a:p>
          <a:p>
            <a:pPr>
              <a:spcBef>
                <a:spcPts val="3000"/>
              </a:spcBef>
            </a:pPr>
            <a:r>
              <a:rPr lang="en-GB" sz="2400" dirty="0"/>
              <a:t>High-value customers (Champions &amp; Loyal) are critical to protect</a:t>
            </a:r>
          </a:p>
          <a:p>
            <a:pPr>
              <a:spcBef>
                <a:spcPts val="3000"/>
              </a:spcBef>
            </a:pPr>
            <a:r>
              <a:rPr lang="en-GB" sz="2400" dirty="0"/>
              <a:t>Large churn risk (~33%) is a major recovery opportunity</a:t>
            </a:r>
          </a:p>
          <a:p>
            <a:pPr>
              <a:spcBef>
                <a:spcPts val="3000"/>
              </a:spcBef>
            </a:pPr>
            <a:r>
              <a:rPr lang="en-GB" sz="2400" dirty="0"/>
              <a:t>Potential Loyalists are the key growth segment</a:t>
            </a:r>
          </a:p>
          <a:p>
            <a:pPr>
              <a:spcBef>
                <a:spcPts val="3000"/>
              </a:spcBef>
            </a:pPr>
            <a:r>
              <a:rPr lang="en-GB" sz="2400" dirty="0"/>
              <a:t>Focus on retention, re-engagement and regional optimisation</a:t>
            </a:r>
            <a:endParaRPr lang="LID4096" sz="2400" dirty="0"/>
          </a:p>
        </p:txBody>
      </p:sp>
      <p:sp>
        <p:nvSpPr>
          <p:cNvPr id="7" name="TextBox 6">
            <a:extLst>
              <a:ext uri="{FF2B5EF4-FFF2-40B4-BE49-F238E27FC236}">
                <a16:creationId xmlns:a16="http://schemas.microsoft.com/office/drawing/2014/main" id="{10FC05D4-1FBA-8A6A-6E92-ABCD47C052F6}"/>
              </a:ext>
            </a:extLst>
          </p:cNvPr>
          <p:cNvSpPr txBox="1"/>
          <p:nvPr/>
        </p:nvSpPr>
        <p:spPr>
          <a:xfrm>
            <a:off x="838200" y="2011680"/>
            <a:ext cx="659958" cy="707886"/>
          </a:xfrm>
          <a:prstGeom prst="rect">
            <a:avLst/>
          </a:prstGeom>
          <a:noFill/>
        </p:spPr>
        <p:txBody>
          <a:bodyPr wrap="square" rtlCol="0">
            <a:spAutoFit/>
          </a:bodyPr>
          <a:lstStyle/>
          <a:p>
            <a:r>
              <a:rPr lang="en-DE" sz="4000" dirty="0"/>
              <a:t>📉</a:t>
            </a:r>
            <a:endParaRPr lang="LID4096" sz="4000" dirty="0"/>
          </a:p>
        </p:txBody>
      </p:sp>
      <p:sp>
        <p:nvSpPr>
          <p:cNvPr id="8" name="TextBox 7">
            <a:extLst>
              <a:ext uri="{FF2B5EF4-FFF2-40B4-BE49-F238E27FC236}">
                <a16:creationId xmlns:a16="http://schemas.microsoft.com/office/drawing/2014/main" id="{D7B744DC-5BA3-9244-7307-2C2E018941E1}"/>
              </a:ext>
            </a:extLst>
          </p:cNvPr>
          <p:cNvSpPr txBox="1"/>
          <p:nvPr/>
        </p:nvSpPr>
        <p:spPr>
          <a:xfrm>
            <a:off x="893860" y="2782669"/>
            <a:ext cx="405516" cy="646331"/>
          </a:xfrm>
          <a:prstGeom prst="rect">
            <a:avLst/>
          </a:prstGeom>
          <a:noFill/>
        </p:spPr>
        <p:txBody>
          <a:bodyPr wrap="square" rtlCol="0">
            <a:spAutoFit/>
          </a:bodyPr>
          <a:lstStyle/>
          <a:p>
            <a:r>
              <a:rPr lang="en-DE" sz="3600" dirty="0"/>
              <a:t>🏆</a:t>
            </a:r>
            <a:endParaRPr lang="LID4096" sz="3600" dirty="0"/>
          </a:p>
        </p:txBody>
      </p:sp>
      <p:sp>
        <p:nvSpPr>
          <p:cNvPr id="9" name="TextBox 8">
            <a:extLst>
              <a:ext uri="{FF2B5EF4-FFF2-40B4-BE49-F238E27FC236}">
                <a16:creationId xmlns:a16="http://schemas.microsoft.com/office/drawing/2014/main" id="{E93B58AF-9ED1-EBD6-0B84-0B067DF99360}"/>
              </a:ext>
            </a:extLst>
          </p:cNvPr>
          <p:cNvSpPr txBox="1"/>
          <p:nvPr/>
        </p:nvSpPr>
        <p:spPr>
          <a:xfrm>
            <a:off x="904129" y="3492103"/>
            <a:ext cx="528099" cy="646331"/>
          </a:xfrm>
          <a:prstGeom prst="rect">
            <a:avLst/>
          </a:prstGeom>
          <a:noFill/>
        </p:spPr>
        <p:txBody>
          <a:bodyPr wrap="square" rtlCol="0">
            <a:spAutoFit/>
          </a:bodyPr>
          <a:lstStyle/>
          <a:p>
            <a:r>
              <a:rPr lang="en-DE" sz="3600" dirty="0"/>
              <a:t>⚠️</a:t>
            </a:r>
            <a:endParaRPr lang="LID4096" sz="3600" dirty="0"/>
          </a:p>
        </p:txBody>
      </p:sp>
      <p:sp>
        <p:nvSpPr>
          <p:cNvPr id="10" name="TextBox 9">
            <a:extLst>
              <a:ext uri="{FF2B5EF4-FFF2-40B4-BE49-F238E27FC236}">
                <a16:creationId xmlns:a16="http://schemas.microsoft.com/office/drawing/2014/main" id="{FB5F6AFB-C3F8-F16D-ECBA-39656D7C9A5B}"/>
              </a:ext>
            </a:extLst>
          </p:cNvPr>
          <p:cNvSpPr txBox="1"/>
          <p:nvPr/>
        </p:nvSpPr>
        <p:spPr>
          <a:xfrm>
            <a:off x="927984" y="4201537"/>
            <a:ext cx="405516" cy="646331"/>
          </a:xfrm>
          <a:prstGeom prst="rect">
            <a:avLst/>
          </a:prstGeom>
          <a:noFill/>
        </p:spPr>
        <p:txBody>
          <a:bodyPr wrap="square" rtlCol="0">
            <a:spAutoFit/>
          </a:bodyPr>
          <a:lstStyle/>
          <a:p>
            <a:r>
              <a:rPr lang="en-DE" sz="3600" dirty="0"/>
              <a:t>🌱</a:t>
            </a:r>
            <a:endParaRPr lang="LID4096" sz="3600" dirty="0"/>
          </a:p>
        </p:txBody>
      </p:sp>
      <p:sp>
        <p:nvSpPr>
          <p:cNvPr id="11" name="TextBox 10">
            <a:extLst>
              <a:ext uri="{FF2B5EF4-FFF2-40B4-BE49-F238E27FC236}">
                <a16:creationId xmlns:a16="http://schemas.microsoft.com/office/drawing/2014/main" id="{BA941973-E24E-19D1-C117-771E2B319CE7}"/>
              </a:ext>
            </a:extLst>
          </p:cNvPr>
          <p:cNvSpPr txBox="1"/>
          <p:nvPr/>
        </p:nvSpPr>
        <p:spPr>
          <a:xfrm>
            <a:off x="960949" y="4989305"/>
            <a:ext cx="676854" cy="584775"/>
          </a:xfrm>
          <a:prstGeom prst="rect">
            <a:avLst/>
          </a:prstGeom>
          <a:noFill/>
        </p:spPr>
        <p:txBody>
          <a:bodyPr wrap="square" rtlCol="0">
            <a:spAutoFit/>
          </a:bodyPr>
          <a:lstStyle/>
          <a:p>
            <a:r>
              <a:rPr lang="en-DE" sz="3200" dirty="0"/>
              <a:t>🚀</a:t>
            </a:r>
            <a:endParaRPr lang="LID4096" sz="3200" dirty="0"/>
          </a:p>
        </p:txBody>
      </p:sp>
    </p:spTree>
    <p:extLst>
      <p:ext uri="{BB962C8B-B14F-4D97-AF65-F5344CB8AC3E}">
        <p14:creationId xmlns:p14="http://schemas.microsoft.com/office/powerpoint/2010/main" val="316927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1710</Words>
  <Application>Microsoft Office PowerPoint</Application>
  <PresentationFormat>Widescreen</PresentationFormat>
  <Paragraphs>160</Paragraphs>
  <Slides>13</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Customer Retention &amp; Revenue Optimization</vt:lpstr>
      <vt:lpstr>Who is Vertex Supply Co. </vt:lpstr>
      <vt:lpstr>Understanding Customer Value, Behavior, and Lifecycle</vt:lpstr>
      <vt:lpstr>Business Performance is Declining</vt:lpstr>
      <vt:lpstr>Customer Activity is Steadily Declining</vt:lpstr>
      <vt:lpstr>Spending per Customer Remains Stable</vt:lpstr>
      <vt:lpstr>Customer Base Shows High Churn Risk</vt:lpstr>
      <vt:lpstr>Customers Transition from High-Value to At Risk</vt:lpstr>
      <vt:lpstr>Customer Recovery &amp; Retention Strategy </vt:lpstr>
      <vt:lpstr>Segment Based Recovery &amp; Reactivation</vt:lpstr>
      <vt:lpstr>Early Detection of Customer Churn</vt:lpstr>
      <vt:lpstr>Regional Growth Focus</vt:lpstr>
      <vt:lpstr>Final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Karolina Varkuleviciute</dc:creator>
  <cp:lastModifiedBy>Karolina Varkuleviciute</cp:lastModifiedBy>
  <cp:revision>1</cp:revision>
  <dcterms:created xsi:type="dcterms:W3CDTF">2026-03-27T08:36:44Z</dcterms:created>
  <dcterms:modified xsi:type="dcterms:W3CDTF">2026-04-07T06:44:31Z</dcterms:modified>
</cp:coreProperties>
</file>